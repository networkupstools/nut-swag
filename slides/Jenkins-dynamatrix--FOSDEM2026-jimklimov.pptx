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8" r:id="rId3"/>
    <p:sldId id="259" r:id="rId4"/>
    <p:sldId id="263" r:id="rId5"/>
    <p:sldId id="260" r:id="rId6"/>
    <p:sldId id="261" r:id="rId7"/>
    <p:sldId id="264" r:id="rId8"/>
    <p:sldId id="265" r:id="rId9"/>
    <p:sldId id="266" r:id="rId10"/>
    <p:sldId id="281" r:id="rId11"/>
    <p:sldId id="277" r:id="rId12"/>
    <p:sldId id="278" r:id="rId13"/>
    <p:sldId id="279" r:id="rId14"/>
    <p:sldId id="274" r:id="rId15"/>
    <p:sldId id="276" r:id="rId16"/>
    <p:sldId id="267" r:id="rId17"/>
    <p:sldId id="269" r:id="rId18"/>
    <p:sldId id="268" r:id="rId19"/>
    <p:sldId id="280" r:id="rId20"/>
    <p:sldId id="275" r:id="rId21"/>
    <p:sldId id="272" r:id="rId22"/>
    <p:sldId id="273" r:id="rId23"/>
    <p:sldId id="270" r:id="rId24"/>
    <p:sldId id="271" r:id="rId25"/>
    <p:sldId id="257" r:id="rId26"/>
    <p:sldId id="262" r:id="rId27"/>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49" autoAdjust="0"/>
    <p:restoredTop sz="94660"/>
  </p:normalViewPr>
  <p:slideViewPr>
    <p:cSldViewPr snapToGrid="0">
      <p:cViewPr varScale="1">
        <p:scale>
          <a:sx n="95" d="100"/>
          <a:sy n="95" d="100"/>
        </p:scale>
        <p:origin x="102"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61C786-E206-4C41-B5F3-336494820CEB}"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51F350-E00D-4997-9C53-1BABF7E5A51F}" type="slidenum">
              <a:rPr lang="en-US" smtClean="0"/>
              <a:t>‹#›</a:t>
            </a:fld>
            <a:endParaRPr lang="en-US"/>
          </a:p>
        </p:txBody>
      </p:sp>
    </p:spTree>
    <p:extLst>
      <p:ext uri="{BB962C8B-B14F-4D97-AF65-F5344CB8AC3E}">
        <p14:creationId xmlns:p14="http://schemas.microsoft.com/office/powerpoint/2010/main" val="2709189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to https://www.jenkins.io/images/logos/hyderabad/hyderabad.png for inspiration</a:t>
            </a:r>
          </a:p>
        </p:txBody>
      </p:sp>
      <p:sp>
        <p:nvSpPr>
          <p:cNvPr id="4" name="Slide Number Placeholder 3"/>
          <p:cNvSpPr>
            <a:spLocks noGrp="1"/>
          </p:cNvSpPr>
          <p:nvPr>
            <p:ph type="sldNum" sz="quarter" idx="5"/>
          </p:nvPr>
        </p:nvSpPr>
        <p:spPr/>
        <p:txBody>
          <a:bodyPr/>
          <a:lstStyle/>
          <a:p>
            <a:fld id="{3951F350-E00D-4997-9C53-1BABF7E5A51F}" type="slidenum">
              <a:rPr lang="en-US" smtClean="0"/>
              <a:t>1</a:t>
            </a:fld>
            <a:endParaRPr lang="en-US"/>
          </a:p>
        </p:txBody>
      </p:sp>
    </p:spTree>
    <p:extLst>
      <p:ext uri="{BB962C8B-B14F-4D97-AF65-F5344CB8AC3E}">
        <p14:creationId xmlns:p14="http://schemas.microsoft.com/office/powerpoint/2010/main" val="1819370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A7600-561A-D5F6-E88C-2BD399B968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9B4088-187D-F97C-D69F-239C3539B0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E92FFE-A903-62F3-683C-CC674F30355F}"/>
              </a:ext>
            </a:extLst>
          </p:cNvPr>
          <p:cNvSpPr>
            <a:spLocks noGrp="1"/>
          </p:cNvSpPr>
          <p:nvPr>
            <p:ph type="dt" sz="half" idx="10"/>
          </p:nvPr>
        </p:nvSpPr>
        <p:spPr/>
        <p:txBody>
          <a:bodyPr/>
          <a:lstStyle/>
          <a:p>
            <a:fld id="{43113DDC-F6D8-4CFB-BF2B-A893C2C824E1}" type="datetimeFigureOut">
              <a:rPr lang="en-US" smtClean="0"/>
              <a:t>1/30/2026</a:t>
            </a:fld>
            <a:endParaRPr lang="en-US"/>
          </a:p>
        </p:txBody>
      </p:sp>
      <p:sp>
        <p:nvSpPr>
          <p:cNvPr id="5" name="Footer Placeholder 4">
            <a:extLst>
              <a:ext uri="{FF2B5EF4-FFF2-40B4-BE49-F238E27FC236}">
                <a16:creationId xmlns:a16="http://schemas.microsoft.com/office/drawing/2014/main" id="{DBEC7B90-204B-212B-7253-F47B1E7ADD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C312F2-00FA-225A-4556-211ADF473FF0}"/>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3623097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F8AE2-3451-CD5E-8CB1-978405C8DC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66A035-DC61-1A7C-D7DF-AF5103CB11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8F716-C37F-1DE1-DDAC-5E4CC1BDB80E}"/>
              </a:ext>
            </a:extLst>
          </p:cNvPr>
          <p:cNvSpPr>
            <a:spLocks noGrp="1"/>
          </p:cNvSpPr>
          <p:nvPr>
            <p:ph type="dt" sz="half" idx="10"/>
          </p:nvPr>
        </p:nvSpPr>
        <p:spPr/>
        <p:txBody>
          <a:bodyPr/>
          <a:lstStyle/>
          <a:p>
            <a:fld id="{43113DDC-F6D8-4CFB-BF2B-A893C2C824E1}" type="datetimeFigureOut">
              <a:rPr lang="en-US" smtClean="0"/>
              <a:t>1/30/2026</a:t>
            </a:fld>
            <a:endParaRPr lang="en-US"/>
          </a:p>
        </p:txBody>
      </p:sp>
      <p:sp>
        <p:nvSpPr>
          <p:cNvPr id="5" name="Footer Placeholder 4">
            <a:extLst>
              <a:ext uri="{FF2B5EF4-FFF2-40B4-BE49-F238E27FC236}">
                <a16:creationId xmlns:a16="http://schemas.microsoft.com/office/drawing/2014/main" id="{7E11D538-3D8A-4B7F-1226-A10253E242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8A3BC3-8281-89DA-C0E4-846609BB3212}"/>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3409852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76D69-7EC6-61AF-15E3-499197C276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211A4E-035D-C770-2317-3C31F5B0F1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5AB6CC-2805-ECCA-44B7-3EFF5DA3BCE2}"/>
              </a:ext>
            </a:extLst>
          </p:cNvPr>
          <p:cNvSpPr>
            <a:spLocks noGrp="1"/>
          </p:cNvSpPr>
          <p:nvPr>
            <p:ph type="dt" sz="half" idx="10"/>
          </p:nvPr>
        </p:nvSpPr>
        <p:spPr/>
        <p:txBody>
          <a:bodyPr/>
          <a:lstStyle/>
          <a:p>
            <a:fld id="{43113DDC-F6D8-4CFB-BF2B-A893C2C824E1}" type="datetimeFigureOut">
              <a:rPr lang="en-US" smtClean="0"/>
              <a:t>1/30/2026</a:t>
            </a:fld>
            <a:endParaRPr lang="en-US"/>
          </a:p>
        </p:txBody>
      </p:sp>
      <p:sp>
        <p:nvSpPr>
          <p:cNvPr id="5" name="Footer Placeholder 4">
            <a:extLst>
              <a:ext uri="{FF2B5EF4-FFF2-40B4-BE49-F238E27FC236}">
                <a16:creationId xmlns:a16="http://schemas.microsoft.com/office/drawing/2014/main" id="{3FF19FF0-6D28-0CBC-A039-2FF186F17D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A3E2C2-F921-27E5-4739-30369F6150BD}"/>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1208847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E5589-26FA-823B-24B6-448469977C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2FA0DB-5821-4337-BA03-B267037A58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7F6E29-29F6-A501-8E9C-A756A75077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B404EF-5860-F3A9-7524-157652EFBA82}"/>
              </a:ext>
            </a:extLst>
          </p:cNvPr>
          <p:cNvSpPr>
            <a:spLocks noGrp="1"/>
          </p:cNvSpPr>
          <p:nvPr>
            <p:ph type="dt" sz="half" idx="10"/>
          </p:nvPr>
        </p:nvSpPr>
        <p:spPr/>
        <p:txBody>
          <a:bodyPr/>
          <a:lstStyle/>
          <a:p>
            <a:fld id="{43113DDC-F6D8-4CFB-BF2B-A893C2C824E1}" type="datetimeFigureOut">
              <a:rPr lang="en-US" smtClean="0"/>
              <a:t>1/30/2026</a:t>
            </a:fld>
            <a:endParaRPr lang="en-US"/>
          </a:p>
        </p:txBody>
      </p:sp>
      <p:sp>
        <p:nvSpPr>
          <p:cNvPr id="6" name="Footer Placeholder 5">
            <a:extLst>
              <a:ext uri="{FF2B5EF4-FFF2-40B4-BE49-F238E27FC236}">
                <a16:creationId xmlns:a16="http://schemas.microsoft.com/office/drawing/2014/main" id="{596D0988-C0D5-1765-5C1A-BEEAD9307C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2CF02A-30C6-3C29-7F1C-5DDFAC5AFCE3}"/>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3638771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21B2F-470B-5B5D-5A73-C41DC11A7DD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FE7D6A-9B55-D17B-5B2B-17FD2BE3F7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D5B259-C0C3-C923-D3A9-66AB363BA1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72C1E3-71AC-181F-79FA-6B485F6113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3C2B6C-FB44-53CD-02D2-AFA78EB622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F8192-5999-57E0-4401-82A7B88EA608}"/>
              </a:ext>
            </a:extLst>
          </p:cNvPr>
          <p:cNvSpPr>
            <a:spLocks noGrp="1"/>
          </p:cNvSpPr>
          <p:nvPr>
            <p:ph type="dt" sz="half" idx="10"/>
          </p:nvPr>
        </p:nvSpPr>
        <p:spPr/>
        <p:txBody>
          <a:bodyPr/>
          <a:lstStyle/>
          <a:p>
            <a:fld id="{43113DDC-F6D8-4CFB-BF2B-A893C2C824E1}" type="datetimeFigureOut">
              <a:rPr lang="en-US" smtClean="0"/>
              <a:t>1/30/2026</a:t>
            </a:fld>
            <a:endParaRPr lang="en-US"/>
          </a:p>
        </p:txBody>
      </p:sp>
      <p:sp>
        <p:nvSpPr>
          <p:cNvPr id="8" name="Footer Placeholder 7">
            <a:extLst>
              <a:ext uri="{FF2B5EF4-FFF2-40B4-BE49-F238E27FC236}">
                <a16:creationId xmlns:a16="http://schemas.microsoft.com/office/drawing/2014/main" id="{F3FDC459-1274-F450-7B00-B8384C62A7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C9E56E-14CE-05BB-5836-70D7DF7FB5A2}"/>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4003391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95153-910A-30D3-A739-F315BADB46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0A6BFB-1387-F464-2DB4-3C9AF61B8EFD}"/>
              </a:ext>
            </a:extLst>
          </p:cNvPr>
          <p:cNvSpPr>
            <a:spLocks noGrp="1"/>
          </p:cNvSpPr>
          <p:nvPr>
            <p:ph type="dt" sz="half" idx="10"/>
          </p:nvPr>
        </p:nvSpPr>
        <p:spPr/>
        <p:txBody>
          <a:bodyPr/>
          <a:lstStyle/>
          <a:p>
            <a:fld id="{43113DDC-F6D8-4CFB-BF2B-A893C2C824E1}" type="datetimeFigureOut">
              <a:rPr lang="en-US" smtClean="0"/>
              <a:t>1/30/2026</a:t>
            </a:fld>
            <a:endParaRPr lang="en-US"/>
          </a:p>
        </p:txBody>
      </p:sp>
      <p:sp>
        <p:nvSpPr>
          <p:cNvPr id="4" name="Footer Placeholder 3">
            <a:extLst>
              <a:ext uri="{FF2B5EF4-FFF2-40B4-BE49-F238E27FC236}">
                <a16:creationId xmlns:a16="http://schemas.microsoft.com/office/drawing/2014/main" id="{72C8F574-C3D7-2735-BC5F-DBDE0752E1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451A0D-5FE0-E05E-6C5D-DACA2102EBBA}"/>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1164134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E08A37-0A05-CC1B-BEDF-BF0FDE304F52}"/>
              </a:ext>
            </a:extLst>
          </p:cNvPr>
          <p:cNvSpPr>
            <a:spLocks noGrp="1"/>
          </p:cNvSpPr>
          <p:nvPr>
            <p:ph type="dt" sz="half" idx="10"/>
          </p:nvPr>
        </p:nvSpPr>
        <p:spPr/>
        <p:txBody>
          <a:bodyPr/>
          <a:lstStyle/>
          <a:p>
            <a:fld id="{43113DDC-F6D8-4CFB-BF2B-A893C2C824E1}" type="datetimeFigureOut">
              <a:rPr lang="en-US" smtClean="0"/>
              <a:t>1/30/2026</a:t>
            </a:fld>
            <a:endParaRPr lang="en-US"/>
          </a:p>
        </p:txBody>
      </p:sp>
      <p:sp>
        <p:nvSpPr>
          <p:cNvPr id="3" name="Footer Placeholder 2">
            <a:extLst>
              <a:ext uri="{FF2B5EF4-FFF2-40B4-BE49-F238E27FC236}">
                <a16:creationId xmlns:a16="http://schemas.microsoft.com/office/drawing/2014/main" id="{761DF25F-6298-3D9F-C9D2-D87F9751CA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123231-32BD-2627-485D-F9DA455335C1}"/>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2876616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50B0C-4839-9927-16D5-32DA00880A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69E7BC-EFB2-9292-61FE-12AB67E2B7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DE6771-8D3D-F8C5-8BAF-0F39367DBA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219D1F-D45B-7A6C-88E6-4D4ADF781BE5}"/>
              </a:ext>
            </a:extLst>
          </p:cNvPr>
          <p:cNvSpPr>
            <a:spLocks noGrp="1"/>
          </p:cNvSpPr>
          <p:nvPr>
            <p:ph type="dt" sz="half" idx="10"/>
          </p:nvPr>
        </p:nvSpPr>
        <p:spPr/>
        <p:txBody>
          <a:bodyPr/>
          <a:lstStyle/>
          <a:p>
            <a:fld id="{43113DDC-F6D8-4CFB-BF2B-A893C2C824E1}" type="datetimeFigureOut">
              <a:rPr lang="en-US" smtClean="0"/>
              <a:t>1/30/2026</a:t>
            </a:fld>
            <a:endParaRPr lang="en-US"/>
          </a:p>
        </p:txBody>
      </p:sp>
      <p:sp>
        <p:nvSpPr>
          <p:cNvPr id="6" name="Footer Placeholder 5">
            <a:extLst>
              <a:ext uri="{FF2B5EF4-FFF2-40B4-BE49-F238E27FC236}">
                <a16:creationId xmlns:a16="http://schemas.microsoft.com/office/drawing/2014/main" id="{59C55093-5C9C-F0C7-712E-D037936DB0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2D6D9A-6FAD-3927-45EB-6B22A357D5B8}"/>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1328528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C0E9A-99A3-5DA1-B9AB-A5C7C136E1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674074-84F8-5336-418C-0C5F728061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8E72DA-E0D7-31CB-9367-5B7553D70C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77D5FD-79BE-8C2E-904E-D0F27BF8CC53}"/>
              </a:ext>
            </a:extLst>
          </p:cNvPr>
          <p:cNvSpPr>
            <a:spLocks noGrp="1"/>
          </p:cNvSpPr>
          <p:nvPr>
            <p:ph type="dt" sz="half" idx="10"/>
          </p:nvPr>
        </p:nvSpPr>
        <p:spPr/>
        <p:txBody>
          <a:bodyPr/>
          <a:lstStyle/>
          <a:p>
            <a:fld id="{43113DDC-F6D8-4CFB-BF2B-A893C2C824E1}" type="datetimeFigureOut">
              <a:rPr lang="en-US" smtClean="0"/>
              <a:t>1/30/2026</a:t>
            </a:fld>
            <a:endParaRPr lang="en-US"/>
          </a:p>
        </p:txBody>
      </p:sp>
      <p:sp>
        <p:nvSpPr>
          <p:cNvPr id="6" name="Footer Placeholder 5">
            <a:extLst>
              <a:ext uri="{FF2B5EF4-FFF2-40B4-BE49-F238E27FC236}">
                <a16:creationId xmlns:a16="http://schemas.microsoft.com/office/drawing/2014/main" id="{75DB9D1C-3859-2BBF-52FD-709A217F7E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C545D8-D178-8D2C-21C5-7644A0CB20A4}"/>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775117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1D881-A845-D746-580D-F2EAADC087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9C0FDB-396E-BBC6-64E5-42DE156ADB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E0AA3E-6C3C-F4A4-E615-35AE51A2BFAE}"/>
              </a:ext>
            </a:extLst>
          </p:cNvPr>
          <p:cNvSpPr>
            <a:spLocks noGrp="1"/>
          </p:cNvSpPr>
          <p:nvPr>
            <p:ph type="dt" sz="half" idx="10"/>
          </p:nvPr>
        </p:nvSpPr>
        <p:spPr/>
        <p:txBody>
          <a:bodyPr/>
          <a:lstStyle/>
          <a:p>
            <a:fld id="{43113DDC-F6D8-4CFB-BF2B-A893C2C824E1}" type="datetimeFigureOut">
              <a:rPr lang="en-US" smtClean="0"/>
              <a:t>1/30/2026</a:t>
            </a:fld>
            <a:endParaRPr lang="en-US"/>
          </a:p>
        </p:txBody>
      </p:sp>
      <p:sp>
        <p:nvSpPr>
          <p:cNvPr id="5" name="Footer Placeholder 4">
            <a:extLst>
              <a:ext uri="{FF2B5EF4-FFF2-40B4-BE49-F238E27FC236}">
                <a16:creationId xmlns:a16="http://schemas.microsoft.com/office/drawing/2014/main" id="{851E7905-D853-6F38-F56B-70823F753E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73EBA4-3EF9-14EB-3349-2036DEB98E85}"/>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2639295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752724-8BCF-AC01-05C6-BCED627E22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7B2218-0A00-0AB2-5310-595D12201A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92D218-53D6-BC53-D843-EAFD72FAFCA7}"/>
              </a:ext>
            </a:extLst>
          </p:cNvPr>
          <p:cNvSpPr>
            <a:spLocks noGrp="1"/>
          </p:cNvSpPr>
          <p:nvPr>
            <p:ph type="dt" sz="half" idx="10"/>
          </p:nvPr>
        </p:nvSpPr>
        <p:spPr/>
        <p:txBody>
          <a:bodyPr/>
          <a:lstStyle/>
          <a:p>
            <a:fld id="{43113DDC-F6D8-4CFB-BF2B-A893C2C824E1}" type="datetimeFigureOut">
              <a:rPr lang="en-US" smtClean="0"/>
              <a:t>1/30/2026</a:t>
            </a:fld>
            <a:endParaRPr lang="en-US"/>
          </a:p>
        </p:txBody>
      </p:sp>
      <p:sp>
        <p:nvSpPr>
          <p:cNvPr id="5" name="Footer Placeholder 4">
            <a:extLst>
              <a:ext uri="{FF2B5EF4-FFF2-40B4-BE49-F238E27FC236}">
                <a16:creationId xmlns:a16="http://schemas.microsoft.com/office/drawing/2014/main" id="{4A844719-AF31-75FF-2361-238524AC29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762F88-B397-F852-7635-0D72F64B514F}"/>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804804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6000"/>
            <a:lum/>
            <a:extLst>
              <a:ext uri="{96DAC541-7B7A-43D3-8B79-37D633B846F1}">
                <asvg:svgBlip xmlns:asvg="http://schemas.microsoft.com/office/drawing/2016/SVG/main" r:embed="rId14"/>
              </a:ext>
            </a:extLst>
          </a:blip>
          <a:srcRect/>
          <a:stretch>
            <a:fillRect l="30000" t="7000" r="2000" b="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40FF71-257B-335A-B332-08A7E9682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7A47EC-F597-F04A-36DB-9D513CA2A3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72F57-12EB-D95A-38C4-06494731B3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113DDC-F6D8-4CFB-BF2B-A893C2C824E1}" type="datetimeFigureOut">
              <a:rPr lang="en-US" smtClean="0"/>
              <a:t>1/30/2026</a:t>
            </a:fld>
            <a:endParaRPr lang="en-US"/>
          </a:p>
        </p:txBody>
      </p:sp>
      <p:sp>
        <p:nvSpPr>
          <p:cNvPr id="5" name="Footer Placeholder 4">
            <a:extLst>
              <a:ext uri="{FF2B5EF4-FFF2-40B4-BE49-F238E27FC236}">
                <a16:creationId xmlns:a16="http://schemas.microsoft.com/office/drawing/2014/main" id="{FC66FDFE-615D-371D-3359-C33B49924E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37C1D68-0F44-487A-2BDC-338CD09772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5349C6-41BF-4083-B26E-3B146CE90A22}" type="slidenum">
              <a:rPr lang="en-US" smtClean="0"/>
              <a:t>‹#›</a:t>
            </a:fld>
            <a:endParaRPr lang="en-US"/>
          </a:p>
        </p:txBody>
      </p:sp>
    </p:spTree>
    <p:extLst>
      <p:ext uri="{BB962C8B-B14F-4D97-AF65-F5344CB8AC3E}">
        <p14:creationId xmlns:p14="http://schemas.microsoft.com/office/powerpoint/2010/main" val="1618280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github.com/jenkinsci/pipeline-graph-view-plugin/issues/862" TargetMode="External"/><Relationship Id="rId3" Type="http://schemas.openxmlformats.org/officeDocument/2006/relationships/image" Target="../media/image2.svg"/><Relationship Id="rId7" Type="http://schemas.openxmlformats.org/officeDocument/2006/relationships/hyperlink" Target="https://github.com/jenkinsci/workflow-support-plugin/pull/345"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issues.jenkins.io/browse/JENKINS-75195" TargetMode="External"/><Relationship Id="rId5" Type="http://schemas.openxmlformats.org/officeDocument/2006/relationships/hyperlink" Target="https://issues.jenkins.io/browse/JENKINS-75196" TargetMode="External"/><Relationship Id="rId10" Type="http://schemas.openxmlformats.org/officeDocument/2006/relationships/hyperlink" Target="https://github.com/jenkinsci/pipeline-graph-view-plugin/issues/888" TargetMode="External"/><Relationship Id="rId4" Type="http://schemas.openxmlformats.org/officeDocument/2006/relationships/hyperlink" Target="https://issues.jenkins.io/browse/JENKINS-76294" TargetMode="External"/><Relationship Id="rId9" Type="http://schemas.openxmlformats.org/officeDocument/2006/relationships/hyperlink" Target="https://github.com/jenkinsci/pipeline-graph-view-plugin/pull/887"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github.com/jenkinsci/git-client-plugin/pull/644" TargetMode="External"/><Relationship Id="rId4" Type="http://schemas.openxmlformats.org/officeDocument/2006/relationships/hyperlink" Target="https://github.com/jenkinsci/pipeline-groovy-lib-plugin/pull/19"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hyperlink" Target="https://issues.jenkins.io/browse/JENKINS-75196"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issues.jenkins.io/browse/JENKINS-75195" TargetMode="External"/><Relationship Id="rId5" Type="http://schemas.openxmlformats.org/officeDocument/2006/relationships/hyperlink" Target="https://issues.jenkins.io/browse/JENKINS-69446" TargetMode="External"/><Relationship Id="rId4" Type="http://schemas.openxmlformats.org/officeDocument/2006/relationships/hyperlink" Target="https://issues.jenkins.io/browse/JENKINS-70501"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github.com/jenkinsci/conflict-aware-ondemand-strategy-plugin"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hyperlink" Target="https://github.com/jenkinsci/simple-queue-plugin/pull/17"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networkupstools.org/docs/user-manual.chunked/_connecting_jenkins_to_the_containers.html#_where_to_run_agent_jar"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github.com/networkupstools/jenkins-swarm-nutci" TargetMode="External"/><Relationship Id="rId5" Type="http://schemas.openxmlformats.org/officeDocument/2006/relationships/hyperlink" Target="https://github.com/networkupstools/jenkins-dynamatrix" TargetMode="External"/><Relationship Id="rId4" Type="http://schemas.openxmlformats.org/officeDocument/2006/relationships/hyperlink" Target="https://stories.jenkins.io/user-story/jenkins-is-the-way-for-networkupstools/"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github.com/networkupstools/libmodbus/blob/rtu_usb_jf/Jenkinsfile-dynamatrix" TargetMode="External"/><Relationship Id="rId5" Type="http://schemas.openxmlformats.org/officeDocument/2006/relationships/hyperlink" Target="https://github.com/networkupstools/nut/blob/master/ci_build.sh" TargetMode="External"/><Relationship Id="rId4" Type="http://schemas.openxmlformats.org/officeDocument/2006/relationships/hyperlink" Target="https://github.com/networkupstools/nut/blob/master/Jenkinsfile-dynamatri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3000"/>
            <a:lum/>
            <a:extLst>
              <a:ext uri="{96DAC541-7B7A-43D3-8B79-37D633B846F1}">
                <asvg:svgBlip xmlns:asvg="http://schemas.microsoft.com/office/drawing/2016/SVG/main" r:embed="rId4"/>
              </a:ext>
            </a:extLst>
          </a:blip>
          <a:srcRect/>
          <a:stretch>
            <a:fillRect l="30000" t="7000" r="2000" b="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1C7B-44F6-E944-DDFB-A3FFD5762995}"/>
              </a:ext>
            </a:extLst>
          </p:cNvPr>
          <p:cNvSpPr>
            <a:spLocks noGrp="1"/>
          </p:cNvSpPr>
          <p:nvPr>
            <p:ph type="ctrTitle"/>
          </p:nvPr>
        </p:nvSpPr>
        <p:spPr>
          <a:xfrm>
            <a:off x="1073426" y="178905"/>
            <a:ext cx="7275443" cy="1053547"/>
          </a:xfrm>
        </p:spPr>
        <p:txBody>
          <a:bodyPr>
            <a:normAutofit fontScale="90000"/>
          </a:bodyPr>
          <a:lstStyle/>
          <a:p>
            <a:r>
              <a:rPr lang="en-US" b="1" dirty="0"/>
              <a:t>NUT CI farm ❤️ Jenkins</a:t>
            </a:r>
          </a:p>
        </p:txBody>
      </p:sp>
    </p:spTree>
    <p:extLst>
      <p:ext uri="{BB962C8B-B14F-4D97-AF65-F5344CB8AC3E}">
        <p14:creationId xmlns:p14="http://schemas.microsoft.com/office/powerpoint/2010/main" val="2848176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E5D6107D-F80F-4421-1752-4ABC1C995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9D19A-8F04-617C-EF81-C32D121CDEFB}"/>
              </a:ext>
            </a:extLst>
          </p:cNvPr>
          <p:cNvSpPr>
            <a:spLocks noGrp="1"/>
          </p:cNvSpPr>
          <p:nvPr>
            <p:ph type="ctrTitle"/>
          </p:nvPr>
        </p:nvSpPr>
        <p:spPr/>
        <p:txBody>
          <a:bodyPr/>
          <a:lstStyle/>
          <a:p>
            <a:r>
              <a:rPr lang="en-US" b="1" dirty="0"/>
              <a:t>Jenkins-</a:t>
            </a:r>
            <a:r>
              <a:rPr lang="en-US" b="1" dirty="0" err="1"/>
              <a:t>dynamatrix</a:t>
            </a:r>
            <a:r>
              <a:rPr lang="en-US" b="1" dirty="0"/>
              <a:t> overview</a:t>
            </a:r>
          </a:p>
        </p:txBody>
      </p:sp>
      <p:sp>
        <p:nvSpPr>
          <p:cNvPr id="3" name="Subtitle 2">
            <a:extLst>
              <a:ext uri="{FF2B5EF4-FFF2-40B4-BE49-F238E27FC236}">
                <a16:creationId xmlns:a16="http://schemas.microsoft.com/office/drawing/2014/main" id="{BCB60CE0-F050-DD50-8A03-17FC2E963DE3}"/>
              </a:ext>
            </a:extLst>
          </p:cNvPr>
          <p:cNvSpPr>
            <a:spLocks noGrp="1"/>
          </p:cNvSpPr>
          <p:nvPr>
            <p:ph type="subTitle" idx="1"/>
          </p:nvPr>
        </p:nvSpPr>
        <p:spPr/>
        <p:txBody>
          <a:bodyPr>
            <a:normAutofit lnSpcReduction="10000"/>
          </a:bodyPr>
          <a:lstStyle/>
          <a:p>
            <a:r>
              <a:rPr lang="en-US" b="1" dirty="0"/>
              <a:t>Jim Klimov</a:t>
            </a:r>
          </a:p>
          <a:p>
            <a:r>
              <a:rPr lang="en-US" b="1" dirty="0"/>
              <a:t>Maintainer of the Network UPS Tools project</a:t>
            </a:r>
          </a:p>
          <a:p>
            <a:br>
              <a:rPr lang="en-US" b="1" dirty="0"/>
            </a:br>
            <a:r>
              <a:rPr lang="en-US" b="1" dirty="0"/>
              <a:t>Jenkins Contributor Summit pre-FOSDEM 2026</a:t>
            </a:r>
          </a:p>
        </p:txBody>
      </p:sp>
    </p:spTree>
    <p:extLst>
      <p:ext uri="{BB962C8B-B14F-4D97-AF65-F5344CB8AC3E}">
        <p14:creationId xmlns:p14="http://schemas.microsoft.com/office/powerpoint/2010/main" val="2967301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C28F9-0A79-A496-99E3-74E9A1FC45A4}"/>
              </a:ext>
            </a:extLst>
          </p:cNvPr>
          <p:cNvSpPr>
            <a:spLocks noGrp="1"/>
          </p:cNvSpPr>
          <p:nvPr>
            <p:ph type="title"/>
          </p:nvPr>
        </p:nvSpPr>
        <p:spPr/>
        <p:txBody>
          <a:bodyPr/>
          <a:lstStyle/>
          <a:p>
            <a:r>
              <a:rPr lang="en-US" dirty="0"/>
              <a:t>Why</a:t>
            </a:r>
          </a:p>
        </p:txBody>
      </p:sp>
      <p:sp>
        <p:nvSpPr>
          <p:cNvPr id="3" name="Content Placeholder 2">
            <a:extLst>
              <a:ext uri="{FF2B5EF4-FFF2-40B4-BE49-F238E27FC236}">
                <a16:creationId xmlns:a16="http://schemas.microsoft.com/office/drawing/2014/main" id="{77583462-A557-FA1F-52F2-BD8D8E50FA58}"/>
              </a:ext>
            </a:extLst>
          </p:cNvPr>
          <p:cNvSpPr>
            <a:spLocks noGrp="1"/>
          </p:cNvSpPr>
          <p:nvPr>
            <p:ph idx="1"/>
          </p:nvPr>
        </p:nvSpPr>
        <p:spPr/>
        <p:txBody>
          <a:bodyPr>
            <a:normAutofit/>
          </a:bodyPr>
          <a:lstStyle/>
          <a:p>
            <a:r>
              <a:rPr lang="en-US" dirty="0"/>
              <a:t>Our modus operandi: Any system that was power-protected with NUT, and is still alive, deserves to be protected with modern NUT versions. Their vendors may not be around… for decades now.</a:t>
            </a:r>
          </a:p>
          <a:p>
            <a:r>
              <a:rPr lang="en-US" dirty="0"/>
              <a:t>Ensure portability across 25+ years of distros (and toolkit versions and implementations, and language revisions, and dependencies…)</a:t>
            </a:r>
          </a:p>
          <a:p>
            <a:r>
              <a:rPr lang="en-US" dirty="0"/>
              <a:t>Not all tools, dependencies, features are ubiquitous, or behaved consistently over the years</a:t>
            </a:r>
          </a:p>
          <a:p>
            <a:r>
              <a:rPr lang="en-US" dirty="0"/>
              <a:t>Not a single-vendor ecosystem like Java, NodeJS, Perl or Python – rather a lot of loosely similar programs doing their thing in different ways, expecting and complaining variably</a:t>
            </a:r>
          </a:p>
          <a:p>
            <a:endParaRPr lang="en-US" dirty="0"/>
          </a:p>
          <a:p>
            <a:endParaRPr lang="en-US" dirty="0"/>
          </a:p>
        </p:txBody>
      </p:sp>
    </p:spTree>
    <p:extLst>
      <p:ext uri="{BB962C8B-B14F-4D97-AF65-F5344CB8AC3E}">
        <p14:creationId xmlns:p14="http://schemas.microsoft.com/office/powerpoint/2010/main" val="3938199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43470DC3-D560-6473-EB15-5B7BDA1F8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F6CC30-30C9-2CB8-0C3A-4B480435D74F}"/>
              </a:ext>
            </a:extLst>
          </p:cNvPr>
          <p:cNvSpPr>
            <a:spLocks noGrp="1"/>
          </p:cNvSpPr>
          <p:nvPr>
            <p:ph type="title"/>
          </p:nvPr>
        </p:nvSpPr>
        <p:spPr/>
        <p:txBody>
          <a:bodyPr/>
          <a:lstStyle/>
          <a:p>
            <a:r>
              <a:rPr lang="en-US" dirty="0"/>
              <a:t>Why</a:t>
            </a:r>
          </a:p>
        </p:txBody>
      </p:sp>
      <p:sp>
        <p:nvSpPr>
          <p:cNvPr id="3" name="Content Placeholder 2">
            <a:extLst>
              <a:ext uri="{FF2B5EF4-FFF2-40B4-BE49-F238E27FC236}">
                <a16:creationId xmlns:a16="http://schemas.microsoft.com/office/drawing/2014/main" id="{5073F6F3-31CC-3F84-F0A7-91E152C7B12B}"/>
              </a:ext>
            </a:extLst>
          </p:cNvPr>
          <p:cNvSpPr>
            <a:spLocks noGrp="1"/>
          </p:cNvSpPr>
          <p:nvPr>
            <p:ph idx="1"/>
          </p:nvPr>
        </p:nvSpPr>
        <p:spPr/>
        <p:txBody>
          <a:bodyPr>
            <a:normAutofit/>
          </a:bodyPr>
          <a:lstStyle/>
          <a:p>
            <a:r>
              <a:rPr lang="en-US" dirty="0"/>
              <a:t>Had a practical problem with existing matrix approaches (in various CI offerings), where the matrix dictates the build agents which must exist for the CI build, and changes to matrix must be part of codebase</a:t>
            </a:r>
          </a:p>
          <a:p>
            <a:r>
              <a:rPr lang="en-US" dirty="0"/>
              <a:t>Most free cloud CI platforms offer a few Linux/Windows(/MacOS) releases as task runners, with one or two CPU architectures</a:t>
            </a:r>
          </a:p>
          <a:p>
            <a:pPr lvl="1"/>
            <a:r>
              <a:rPr lang="en-US" dirty="0"/>
              <a:t>This represents the reality of market majority, but not the world FOSS lives in</a:t>
            </a:r>
          </a:p>
          <a:p>
            <a:r>
              <a:rPr lang="en-US" dirty="0"/>
              <a:t>Loved Jenkins since before pipelines</a:t>
            </a:r>
          </a:p>
          <a:p>
            <a:r>
              <a:rPr lang="en-US" dirty="0"/>
              <a:t>Wanted to learn JSL programming when they appeared</a:t>
            </a:r>
          </a:p>
          <a:p>
            <a:endParaRPr lang="en-US" dirty="0"/>
          </a:p>
        </p:txBody>
      </p:sp>
    </p:spTree>
    <p:extLst>
      <p:ext uri="{BB962C8B-B14F-4D97-AF65-F5344CB8AC3E}">
        <p14:creationId xmlns:p14="http://schemas.microsoft.com/office/powerpoint/2010/main" val="1022378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5BE44182-F64A-3856-58B4-1D927B5DE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3160D-0DC1-1E53-43A5-F4BB568011A0}"/>
              </a:ext>
            </a:extLst>
          </p:cNvPr>
          <p:cNvSpPr>
            <a:spLocks noGrp="1"/>
          </p:cNvSpPr>
          <p:nvPr>
            <p:ph type="title"/>
          </p:nvPr>
        </p:nvSpPr>
        <p:spPr/>
        <p:txBody>
          <a:bodyPr/>
          <a:lstStyle/>
          <a:p>
            <a:r>
              <a:rPr lang="en-US" dirty="0"/>
              <a:t>More Why</a:t>
            </a:r>
          </a:p>
        </p:txBody>
      </p:sp>
      <p:sp>
        <p:nvSpPr>
          <p:cNvPr id="3" name="Content Placeholder 2">
            <a:extLst>
              <a:ext uri="{FF2B5EF4-FFF2-40B4-BE49-F238E27FC236}">
                <a16:creationId xmlns:a16="http://schemas.microsoft.com/office/drawing/2014/main" id="{7A6CC425-668D-D9BA-90F2-2D556C225FCD}"/>
              </a:ext>
            </a:extLst>
          </p:cNvPr>
          <p:cNvSpPr>
            <a:spLocks noGrp="1"/>
          </p:cNvSpPr>
          <p:nvPr>
            <p:ph idx="1"/>
          </p:nvPr>
        </p:nvSpPr>
        <p:spPr/>
        <p:txBody>
          <a:bodyPr>
            <a:normAutofit/>
          </a:bodyPr>
          <a:lstStyle/>
          <a:p>
            <a:r>
              <a:rPr lang="en-US" dirty="0"/>
              <a:t>Low-level projects in mind (C/C++ on different platforms), although variants of Python, JDK, etc. suffer similarly as languages evolve radically</a:t>
            </a:r>
          </a:p>
          <a:p>
            <a:r>
              <a:rPr lang="en-US" dirty="0"/>
              <a:t>Shadow compilations improve quality and help bug hunts by different takes on static analysis, warnings =&gt; Jenkins Warnings-NG etc.</a:t>
            </a:r>
          </a:p>
          <a:p>
            <a:r>
              <a:rPr lang="en-US" dirty="0"/>
              <a:t>Keep history of (main-branch) builds and their analysis and other artifacts</a:t>
            </a:r>
          </a:p>
          <a:p>
            <a:r>
              <a:rPr lang="en-US" dirty="0"/>
              <a:t>Community can provide runners for machines they are interested in</a:t>
            </a:r>
          </a:p>
        </p:txBody>
      </p:sp>
    </p:spTree>
    <p:extLst>
      <p:ext uri="{BB962C8B-B14F-4D97-AF65-F5344CB8AC3E}">
        <p14:creationId xmlns:p14="http://schemas.microsoft.com/office/powerpoint/2010/main" val="3506184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A3EA05ED-5835-47F8-5B8B-D6C56E154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9DF56-32A8-2E6C-7D6F-102B53FD14B4}"/>
              </a:ext>
            </a:extLst>
          </p:cNvPr>
          <p:cNvSpPr>
            <a:spLocks noGrp="1"/>
          </p:cNvSpPr>
          <p:nvPr>
            <p:ph type="title"/>
          </p:nvPr>
        </p:nvSpPr>
        <p:spPr/>
        <p:txBody>
          <a:bodyPr/>
          <a:lstStyle/>
          <a:p>
            <a:r>
              <a:rPr lang="en-US" dirty="0"/>
              <a:t>Some How</a:t>
            </a:r>
          </a:p>
        </p:txBody>
      </p:sp>
      <p:sp>
        <p:nvSpPr>
          <p:cNvPr id="3" name="Content Placeholder 2">
            <a:extLst>
              <a:ext uri="{FF2B5EF4-FFF2-40B4-BE49-F238E27FC236}">
                <a16:creationId xmlns:a16="http://schemas.microsoft.com/office/drawing/2014/main" id="{2E919DEA-02F1-9D13-C5C1-8BA0ED611540}"/>
              </a:ext>
            </a:extLst>
          </p:cNvPr>
          <p:cNvSpPr>
            <a:spLocks noGrp="1"/>
          </p:cNvSpPr>
          <p:nvPr>
            <p:ph idx="1"/>
          </p:nvPr>
        </p:nvSpPr>
        <p:spPr/>
        <p:txBody>
          <a:bodyPr>
            <a:normAutofit lnSpcReduction="10000"/>
          </a:bodyPr>
          <a:lstStyle/>
          <a:p>
            <a:r>
              <a:rPr lang="en-US" dirty="0"/>
              <a:t>A single Jenkins Shared Library with the logical backend of the </a:t>
            </a:r>
            <a:r>
              <a:rPr lang="en-US" dirty="0" err="1"/>
              <a:t>Dynamatrix</a:t>
            </a:r>
            <a:r>
              <a:rPr lang="en-US" dirty="0"/>
              <a:t> itself, dissemination of tested code base to builders (</a:t>
            </a:r>
            <a:r>
              <a:rPr lang="en-US" dirty="0" err="1"/>
              <a:t>DynamarixStash</a:t>
            </a:r>
            <a:r>
              <a:rPr lang="en-US" dirty="0"/>
              <a:t>), work with build agents/nodes and their announced labels, supported toolkits (plain GNU </a:t>
            </a:r>
            <a:r>
              <a:rPr lang="en-US" dirty="0" err="1"/>
              <a:t>autotools</a:t>
            </a:r>
            <a:r>
              <a:rPr lang="en-US" dirty="0"/>
              <a:t>, </a:t>
            </a:r>
            <a:r>
              <a:rPr lang="en-US" dirty="0" err="1"/>
              <a:t>ZeroMQ</a:t>
            </a:r>
            <a:r>
              <a:rPr lang="en-US" dirty="0"/>
              <a:t>-inspired </a:t>
            </a:r>
            <a:r>
              <a:rPr lang="en-US" dirty="0">
                <a:latin typeface="Courier New" panose="02070309020205020404" pitchFamily="49" charset="0"/>
                <a:cs typeface="Courier New" panose="02070309020205020404" pitchFamily="49" charset="0"/>
              </a:rPr>
              <a:t>ci_build.sh</a:t>
            </a:r>
            <a:r>
              <a:rPr lang="en-US" dirty="0"/>
              <a:t>), knowledge of supported C and C++ standards by certain GCC and CLANG version ranges, warning analysis summary, GH notification reporting of issues, Badge plugin progress reporting, etc.</a:t>
            </a:r>
          </a:p>
          <a:p>
            <a:r>
              <a:rPr lang="en-US" dirty="0"/>
              <a:t>A </a:t>
            </a:r>
            <a:r>
              <a:rPr lang="en-US" dirty="0" err="1"/>
              <a:t>Jenkinsfile-dynamatrix</a:t>
            </a:r>
            <a:r>
              <a:rPr lang="en-US" dirty="0"/>
              <a:t> in a project declares the label-based axes of interest (e.g. </a:t>
            </a:r>
            <a:r>
              <a:rPr lang="en-US" dirty="0">
                <a:latin typeface="Courier New" panose="02070309020205020404" pitchFamily="49" charset="0"/>
                <a:cs typeface="Courier New" panose="02070309020205020404" pitchFamily="49" charset="0"/>
              </a:rPr>
              <a:t>OS_DISTRO</a:t>
            </a:r>
            <a:r>
              <a:rPr lang="en-US" dirty="0"/>
              <a:t>, </a:t>
            </a:r>
            <a:r>
              <a:rPr lang="en-US" dirty="0">
                <a:latin typeface="Courier New" panose="02070309020205020404" pitchFamily="49" charset="0"/>
                <a:cs typeface="Courier New" panose="02070309020205020404" pitchFamily="49" charset="0"/>
              </a:rPr>
              <a:t>COMPILER</a:t>
            </a:r>
            <a:r>
              <a:rPr lang="en-US" dirty="0"/>
              <a:t>, </a:t>
            </a:r>
            <a:r>
              <a:rPr lang="en-US" dirty="0">
                <a:latin typeface="Courier New" panose="02070309020205020404" pitchFamily="49" charset="0"/>
                <a:cs typeface="Courier New" panose="02070309020205020404" pitchFamily="49" charset="0"/>
              </a:rPr>
              <a:t>${COMPILER}VER</a:t>
            </a:r>
            <a:r>
              <a:rPr lang="en-US" dirty="0"/>
              <a:t>…), possibly different for some “slow build” scenario groups and calls a step from the JSL to construct and run the parallel stages for work</a:t>
            </a:r>
          </a:p>
        </p:txBody>
      </p:sp>
    </p:spTree>
    <p:extLst>
      <p:ext uri="{BB962C8B-B14F-4D97-AF65-F5344CB8AC3E}">
        <p14:creationId xmlns:p14="http://schemas.microsoft.com/office/powerpoint/2010/main" val="4068696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20421-09B4-B21C-B9C7-E5A0340009E1}"/>
              </a:ext>
            </a:extLst>
          </p:cNvPr>
          <p:cNvSpPr>
            <a:spLocks noGrp="1"/>
          </p:cNvSpPr>
          <p:nvPr>
            <p:ph type="title"/>
          </p:nvPr>
        </p:nvSpPr>
        <p:spPr/>
        <p:txBody>
          <a:bodyPr/>
          <a:lstStyle/>
          <a:p>
            <a:r>
              <a:rPr lang="en-US" dirty="0"/>
              <a:t>Some How</a:t>
            </a:r>
          </a:p>
        </p:txBody>
      </p:sp>
      <p:sp>
        <p:nvSpPr>
          <p:cNvPr id="3" name="Content Placeholder 2">
            <a:extLst>
              <a:ext uri="{FF2B5EF4-FFF2-40B4-BE49-F238E27FC236}">
                <a16:creationId xmlns:a16="http://schemas.microsoft.com/office/drawing/2014/main" id="{E8977A4B-F923-4F8E-A75A-ADA0847D73DF}"/>
              </a:ext>
            </a:extLst>
          </p:cNvPr>
          <p:cNvSpPr>
            <a:spLocks noGrp="1"/>
          </p:cNvSpPr>
          <p:nvPr>
            <p:ph idx="1"/>
          </p:nvPr>
        </p:nvSpPr>
        <p:spPr/>
        <p:txBody>
          <a:bodyPr>
            <a:normAutofit/>
          </a:bodyPr>
          <a:lstStyle/>
          <a:p>
            <a:r>
              <a:rPr lang="en-US" dirty="0"/>
              <a:t>“Discovery” of the build matrix as intersection of node labels and requirements of slow-build scenarios does take a while, so…</a:t>
            </a:r>
          </a:p>
          <a:p>
            <a:r>
              <a:rPr lang="en-US" dirty="0"/>
              <a:t>…a few quick-build scenarios may be executed during this time, e.g.:</a:t>
            </a:r>
          </a:p>
          <a:p>
            <a:pPr lvl="1"/>
            <a:r>
              <a:rPr lang="en-US" dirty="0"/>
              <a:t>Spellcheck</a:t>
            </a:r>
          </a:p>
          <a:p>
            <a:pPr lvl="1"/>
            <a:r>
              <a:rPr lang="en-US" dirty="0" err="1"/>
              <a:t>Stylecheck</a:t>
            </a:r>
            <a:r>
              <a:rPr lang="en-US" dirty="0"/>
              <a:t> (clang-format, etc.)</a:t>
            </a:r>
          </a:p>
          <a:p>
            <a:pPr lvl="1"/>
            <a:r>
              <a:rPr lang="en-US" dirty="0" err="1"/>
              <a:t>Shellcheck</a:t>
            </a:r>
            <a:r>
              <a:rPr lang="en-US" dirty="0"/>
              <a:t> of shipped scripts with different interpreters</a:t>
            </a:r>
          </a:p>
          <a:p>
            <a:pPr lvl="1"/>
            <a:r>
              <a:rPr lang="en-US" dirty="0"/>
              <a:t>Other smoke tests that help block bad commits quickly</a:t>
            </a:r>
          </a:p>
        </p:txBody>
      </p:sp>
    </p:spTree>
    <p:extLst>
      <p:ext uri="{BB962C8B-B14F-4D97-AF65-F5344CB8AC3E}">
        <p14:creationId xmlns:p14="http://schemas.microsoft.com/office/powerpoint/2010/main" val="1285872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FD1B8A8E-8689-86D6-D767-787323D03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1F7522-77FD-644E-4666-670C91F27D45}"/>
              </a:ext>
            </a:extLst>
          </p:cNvPr>
          <p:cNvSpPr>
            <a:spLocks noGrp="1"/>
          </p:cNvSpPr>
          <p:nvPr>
            <p:ph type="title"/>
          </p:nvPr>
        </p:nvSpPr>
        <p:spPr/>
        <p:txBody>
          <a:bodyPr/>
          <a:lstStyle/>
          <a:p>
            <a:r>
              <a:rPr lang="en-US" dirty="0"/>
              <a:t>Some How</a:t>
            </a:r>
          </a:p>
        </p:txBody>
      </p:sp>
      <p:sp>
        <p:nvSpPr>
          <p:cNvPr id="3" name="Content Placeholder 2">
            <a:extLst>
              <a:ext uri="{FF2B5EF4-FFF2-40B4-BE49-F238E27FC236}">
                <a16:creationId xmlns:a16="http://schemas.microsoft.com/office/drawing/2014/main" id="{B996DFB0-E513-3415-31C0-ED3CBC9AE8C5}"/>
              </a:ext>
            </a:extLst>
          </p:cNvPr>
          <p:cNvSpPr>
            <a:spLocks noGrp="1"/>
          </p:cNvSpPr>
          <p:nvPr>
            <p:ph idx="1"/>
          </p:nvPr>
        </p:nvSpPr>
        <p:spPr/>
        <p:txBody>
          <a:bodyPr>
            <a:normAutofit/>
          </a:bodyPr>
          <a:lstStyle/>
          <a:p>
            <a:r>
              <a:rPr lang="en-US" dirty="0"/>
              <a:t>The (optional) quick-build stages are just another scenario type, so also are chosen by presence of, and scheduled to, supported build agents (those who declare having </a:t>
            </a:r>
            <a:r>
              <a:rPr lang="en-US" dirty="0" err="1">
                <a:latin typeface="Courier New" panose="02070309020205020404" pitchFamily="49" charset="0"/>
                <a:cs typeface="Courier New" panose="02070309020205020404" pitchFamily="49" charset="0"/>
              </a:rPr>
              <a:t>aspell</a:t>
            </a:r>
            <a:r>
              <a:rPr lang="en-US" dirty="0"/>
              <a:t>, those with label values for </a:t>
            </a:r>
            <a:r>
              <a:rPr lang="en-US" dirty="0">
                <a:latin typeface="Courier New" panose="02070309020205020404" pitchFamily="49" charset="0"/>
                <a:cs typeface="Courier New" panose="02070309020205020404" pitchFamily="49" charset="0"/>
              </a:rPr>
              <a:t>SHELL=xxx</a:t>
            </a:r>
            <a:r>
              <a:rPr lang="en-US" dirty="0"/>
              <a:t>, etc.)</a:t>
            </a:r>
          </a:p>
          <a:p>
            <a:pPr lvl="1"/>
            <a:r>
              <a:rPr lang="en-US" dirty="0"/>
              <a:t>FIXME: A way to prioritize these quick parallel stages as a </a:t>
            </a:r>
            <a:r>
              <a:rPr lang="en-US" dirty="0" err="1"/>
              <a:t>QueueItem</a:t>
            </a:r>
            <a:r>
              <a:rPr lang="en-US" dirty="0"/>
              <a:t> would be welcome, so that a new build can be smoked away or queued with its slow build matrix as appropriate</a:t>
            </a:r>
          </a:p>
          <a:p>
            <a:r>
              <a:rPr lang="en-US" dirty="0"/>
              <a:t>Problematic cases are reported to GitHub with a link to latest log file (wherever it failed – configure, build, check, </a:t>
            </a:r>
            <a:r>
              <a:rPr lang="en-US" dirty="0" err="1"/>
              <a:t>distcheck</a:t>
            </a:r>
            <a:r>
              <a:rPr lang="en-US" dirty="0"/>
              <a:t>?..)</a:t>
            </a:r>
          </a:p>
        </p:txBody>
      </p:sp>
    </p:spTree>
    <p:extLst>
      <p:ext uri="{BB962C8B-B14F-4D97-AF65-F5344CB8AC3E}">
        <p14:creationId xmlns:p14="http://schemas.microsoft.com/office/powerpoint/2010/main" val="2158438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2D09E741-C4A1-F0A0-3C36-780321A52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D87A2-9FFB-70D9-8014-98F3052B350E}"/>
              </a:ext>
            </a:extLst>
          </p:cNvPr>
          <p:cNvSpPr>
            <a:spLocks noGrp="1"/>
          </p:cNvSpPr>
          <p:nvPr>
            <p:ph type="title"/>
          </p:nvPr>
        </p:nvSpPr>
        <p:spPr/>
        <p:txBody>
          <a:bodyPr/>
          <a:lstStyle/>
          <a:p>
            <a:r>
              <a:rPr lang="en-US" dirty="0"/>
              <a:t>Some How</a:t>
            </a:r>
          </a:p>
        </p:txBody>
      </p:sp>
      <p:sp>
        <p:nvSpPr>
          <p:cNvPr id="3" name="Content Placeholder 2">
            <a:extLst>
              <a:ext uri="{FF2B5EF4-FFF2-40B4-BE49-F238E27FC236}">
                <a16:creationId xmlns:a16="http://schemas.microsoft.com/office/drawing/2014/main" id="{C5AC7243-E2A2-B1C4-2359-74822641CDFA}"/>
              </a:ext>
            </a:extLst>
          </p:cNvPr>
          <p:cNvSpPr>
            <a:spLocks noGrp="1"/>
          </p:cNvSpPr>
          <p:nvPr>
            <p:ph idx="1"/>
          </p:nvPr>
        </p:nvSpPr>
        <p:spPr/>
        <p:txBody>
          <a:bodyPr>
            <a:normAutofit/>
          </a:bodyPr>
          <a:lstStyle/>
          <a:p>
            <a:r>
              <a:rPr lang="en-US" dirty="0"/>
              <a:t>Examples from actual CI server?</a:t>
            </a:r>
          </a:p>
          <a:p>
            <a:pPr lvl="1"/>
            <a:r>
              <a:rPr lang="en-US" dirty="0"/>
              <a:t>Blue Ocean view</a:t>
            </a:r>
          </a:p>
          <a:p>
            <a:pPr lvl="1"/>
            <a:r>
              <a:rPr lang="en-US" dirty="0"/>
              <a:t>Agent configurations</a:t>
            </a:r>
          </a:p>
          <a:p>
            <a:pPr lvl="1"/>
            <a:r>
              <a:rPr lang="en-US" dirty="0"/>
              <a:t>GitHub results view</a:t>
            </a:r>
          </a:p>
          <a:p>
            <a:pPr lvl="1"/>
            <a:r>
              <a:rPr lang="en-US" dirty="0"/>
              <a:t>Badges</a:t>
            </a:r>
          </a:p>
          <a:p>
            <a:pPr lvl="1"/>
            <a:endParaRPr lang="en-US" dirty="0"/>
          </a:p>
        </p:txBody>
      </p:sp>
      <p:pic>
        <p:nvPicPr>
          <p:cNvPr id="5" name="Picture 4">
            <a:extLst>
              <a:ext uri="{FF2B5EF4-FFF2-40B4-BE49-F238E27FC236}">
                <a16:creationId xmlns:a16="http://schemas.microsoft.com/office/drawing/2014/main" id="{26A5973F-F9A3-60C4-3A9E-B81936F2BBE8}"/>
              </a:ext>
            </a:extLst>
          </p:cNvPr>
          <p:cNvPicPr>
            <a:picLocks noChangeAspect="1"/>
          </p:cNvPicPr>
          <p:nvPr/>
        </p:nvPicPr>
        <p:blipFill>
          <a:blip r:embed="rId4"/>
          <a:stretch>
            <a:fillRect/>
          </a:stretch>
        </p:blipFill>
        <p:spPr>
          <a:xfrm>
            <a:off x="4296572" y="3880340"/>
            <a:ext cx="3286584" cy="2743583"/>
          </a:xfrm>
          <a:prstGeom prst="rect">
            <a:avLst/>
          </a:prstGeom>
        </p:spPr>
      </p:pic>
      <p:pic>
        <p:nvPicPr>
          <p:cNvPr id="11" name="Picture 10">
            <a:extLst>
              <a:ext uri="{FF2B5EF4-FFF2-40B4-BE49-F238E27FC236}">
                <a16:creationId xmlns:a16="http://schemas.microsoft.com/office/drawing/2014/main" id="{255D261F-885A-17F4-6C82-75AE0386930C}"/>
              </a:ext>
            </a:extLst>
          </p:cNvPr>
          <p:cNvPicPr>
            <a:picLocks noChangeAspect="1"/>
          </p:cNvPicPr>
          <p:nvPr/>
        </p:nvPicPr>
        <p:blipFill>
          <a:blip r:embed="rId5"/>
          <a:stretch>
            <a:fillRect/>
          </a:stretch>
        </p:blipFill>
        <p:spPr>
          <a:xfrm>
            <a:off x="8067216" y="365125"/>
            <a:ext cx="3248478" cy="6258798"/>
          </a:xfrm>
          <a:prstGeom prst="rect">
            <a:avLst/>
          </a:prstGeom>
        </p:spPr>
      </p:pic>
    </p:spTree>
    <p:extLst>
      <p:ext uri="{BB962C8B-B14F-4D97-AF65-F5344CB8AC3E}">
        <p14:creationId xmlns:p14="http://schemas.microsoft.com/office/powerpoint/2010/main" val="4279702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759C310-FF72-E5E2-1EB4-42F3F218F18D}"/>
              </a:ext>
            </a:extLst>
          </p:cNvPr>
          <p:cNvPicPr>
            <a:picLocks noChangeAspect="1"/>
          </p:cNvPicPr>
          <p:nvPr/>
        </p:nvPicPr>
        <p:blipFill>
          <a:blip r:embed="rId2"/>
          <a:stretch>
            <a:fillRect/>
          </a:stretch>
        </p:blipFill>
        <p:spPr>
          <a:xfrm>
            <a:off x="250122" y="2774042"/>
            <a:ext cx="11691755" cy="2938445"/>
          </a:xfrm>
          <a:prstGeom prst="rect">
            <a:avLst/>
          </a:prstGeom>
        </p:spPr>
      </p:pic>
    </p:spTree>
    <p:extLst>
      <p:ext uri="{BB962C8B-B14F-4D97-AF65-F5344CB8AC3E}">
        <p14:creationId xmlns:p14="http://schemas.microsoft.com/office/powerpoint/2010/main" val="556504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9CB68-7EC6-E4DC-D861-AE4B0A8C9B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4592C7-96BC-0AC4-959B-1EA0DE2E1594}"/>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EBBD3E5C-0307-BA67-341A-6F1A911D0857}"/>
              </a:ext>
            </a:extLst>
          </p:cNvPr>
          <p:cNvPicPr>
            <a:picLocks noChangeAspect="1"/>
          </p:cNvPicPr>
          <p:nvPr/>
        </p:nvPicPr>
        <p:blipFill>
          <a:blip r:embed="rId2"/>
          <a:stretch>
            <a:fillRect/>
          </a:stretch>
        </p:blipFill>
        <p:spPr>
          <a:xfrm>
            <a:off x="0" y="280253"/>
            <a:ext cx="12192000" cy="6297493"/>
          </a:xfrm>
          <a:prstGeom prst="rect">
            <a:avLst/>
          </a:prstGeom>
        </p:spPr>
      </p:pic>
    </p:spTree>
    <p:extLst>
      <p:ext uri="{BB962C8B-B14F-4D97-AF65-F5344CB8AC3E}">
        <p14:creationId xmlns:p14="http://schemas.microsoft.com/office/powerpoint/2010/main" val="2150914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EE272-479D-459A-79F4-2EAEF025424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BC88B36-89D9-EC94-36C4-A3C7989F32DD}"/>
              </a:ext>
            </a:extLst>
          </p:cNvPr>
          <p:cNvPicPr>
            <a:picLocks noGrp="1" noChangeAspect="1"/>
          </p:cNvPicPr>
          <p:nvPr>
            <p:ph idx="1"/>
          </p:nvPr>
        </p:nvPicPr>
        <p:blipFill>
          <a:blip r:embed="rId2"/>
          <a:stretch>
            <a:fillRect/>
          </a:stretch>
        </p:blipFill>
        <p:spPr>
          <a:xfrm>
            <a:off x="0" y="424543"/>
            <a:ext cx="12200113" cy="6008914"/>
          </a:xfrm>
        </p:spPr>
      </p:pic>
    </p:spTree>
    <p:extLst>
      <p:ext uri="{BB962C8B-B14F-4D97-AF65-F5344CB8AC3E}">
        <p14:creationId xmlns:p14="http://schemas.microsoft.com/office/powerpoint/2010/main" val="1242064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28795E-C08D-2522-F2FB-F16EF5320D38}"/>
              </a:ext>
            </a:extLst>
          </p:cNvPr>
          <p:cNvPicPr>
            <a:picLocks noChangeAspect="1"/>
          </p:cNvPicPr>
          <p:nvPr/>
        </p:nvPicPr>
        <p:blipFill>
          <a:blip r:embed="rId2"/>
          <a:stretch>
            <a:fillRect/>
          </a:stretch>
        </p:blipFill>
        <p:spPr>
          <a:xfrm>
            <a:off x="4012024" y="0"/>
            <a:ext cx="8106906" cy="3648584"/>
          </a:xfrm>
          <a:prstGeom prst="rect">
            <a:avLst/>
          </a:prstGeom>
        </p:spPr>
      </p:pic>
      <p:pic>
        <p:nvPicPr>
          <p:cNvPr id="9" name="Picture 8">
            <a:extLst>
              <a:ext uri="{FF2B5EF4-FFF2-40B4-BE49-F238E27FC236}">
                <a16:creationId xmlns:a16="http://schemas.microsoft.com/office/drawing/2014/main" id="{7D1EC87B-9917-26AB-1650-771049A6D0A9}"/>
              </a:ext>
            </a:extLst>
          </p:cNvPr>
          <p:cNvPicPr>
            <a:picLocks noChangeAspect="1"/>
          </p:cNvPicPr>
          <p:nvPr/>
        </p:nvPicPr>
        <p:blipFill>
          <a:blip r:embed="rId3"/>
          <a:stretch>
            <a:fillRect/>
          </a:stretch>
        </p:blipFill>
        <p:spPr>
          <a:xfrm>
            <a:off x="4012024" y="3765885"/>
            <a:ext cx="8068801" cy="2943636"/>
          </a:xfrm>
          <a:prstGeom prst="rect">
            <a:avLst/>
          </a:prstGeom>
        </p:spPr>
      </p:pic>
    </p:spTree>
    <p:extLst>
      <p:ext uri="{BB962C8B-B14F-4D97-AF65-F5344CB8AC3E}">
        <p14:creationId xmlns:p14="http://schemas.microsoft.com/office/powerpoint/2010/main" val="1992265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298C1-7AA6-C3C1-35FF-F5D154802718}"/>
              </a:ext>
            </a:extLst>
          </p:cNvPr>
          <p:cNvSpPr>
            <a:spLocks noGrp="1"/>
          </p:cNvSpPr>
          <p:nvPr>
            <p:ph type="title"/>
          </p:nvPr>
        </p:nvSpPr>
        <p:spPr/>
        <p:txBody>
          <a:bodyPr/>
          <a:lstStyle/>
          <a:p>
            <a:r>
              <a:rPr lang="en-US" dirty="0"/>
              <a:t>Stress(-test)</a:t>
            </a:r>
            <a:r>
              <a:rPr lang="en-US" dirty="0" err="1"/>
              <a:t>ing</a:t>
            </a:r>
            <a:r>
              <a:rPr lang="en-US" dirty="0"/>
              <a:t> Jenkins itself</a:t>
            </a:r>
          </a:p>
        </p:txBody>
      </p:sp>
      <p:sp>
        <p:nvSpPr>
          <p:cNvPr id="3" name="Content Placeholder 2">
            <a:extLst>
              <a:ext uri="{FF2B5EF4-FFF2-40B4-BE49-F238E27FC236}">
                <a16:creationId xmlns:a16="http://schemas.microsoft.com/office/drawing/2014/main" id="{E114E03B-84BC-03AC-8B67-DA6DE02CE9FF}"/>
              </a:ext>
            </a:extLst>
          </p:cNvPr>
          <p:cNvSpPr>
            <a:spLocks noGrp="1"/>
          </p:cNvSpPr>
          <p:nvPr>
            <p:ph idx="1"/>
          </p:nvPr>
        </p:nvSpPr>
        <p:spPr/>
        <p:txBody>
          <a:bodyPr>
            <a:normAutofit lnSpcReduction="10000"/>
          </a:bodyPr>
          <a:lstStyle/>
          <a:p>
            <a:r>
              <a:rPr lang="en-US" dirty="0"/>
              <a:t>~300-700 </a:t>
            </a:r>
            <a:r>
              <a:rPr lang="en-US" dirty="0" err="1"/>
              <a:t>dynamatrix</a:t>
            </a:r>
            <a:r>
              <a:rPr lang="en-US" dirty="0"/>
              <a:t> scenarios (queue items) per NUT code iteration</a:t>
            </a:r>
          </a:p>
          <a:p>
            <a:r>
              <a:rPr lang="en-US" dirty="0"/>
              <a:t>Some run more dependency-based combos internally</a:t>
            </a:r>
          </a:p>
          <a:p>
            <a:r>
              <a:rPr lang="en-US" dirty="0"/>
              <a:t>Burning CPUs across the globe for 7+ hours per job</a:t>
            </a:r>
          </a:p>
          <a:p>
            <a:r>
              <a:rPr lang="en-US" dirty="0"/>
              <a:t>Scripted transparent retries of queue items that failed due to loss of agent (networking, reboots, out of disk space…)</a:t>
            </a:r>
          </a:p>
          <a:p>
            <a:r>
              <a:rPr lang="en-US" dirty="0"/>
              <a:t>Updating build stats as “short text”/”badges” (box in left column)</a:t>
            </a:r>
          </a:p>
          <a:p>
            <a:pPr lvl="1"/>
            <a:r>
              <a:rPr lang="en-US" dirty="0"/>
              <a:t>Cross-browser portable wrapping of long word-like tokens is a PITA</a:t>
            </a:r>
          </a:p>
          <a:p>
            <a:r>
              <a:rPr lang="en-US" dirty="0"/>
              <a:t>While asking on </a:t>
            </a:r>
            <a:r>
              <a:rPr lang="en-US" dirty="0" err="1"/>
              <a:t>Gitter</a:t>
            </a:r>
            <a:r>
              <a:rPr lang="en-US" dirty="0"/>
              <a:t> about issues I’ve hit with the NUT CI farm, they rang a bell to people running Jenkins infra. Too few projects of similar massively-parallel scale (doing this on constrained resources)?</a:t>
            </a:r>
          </a:p>
        </p:txBody>
      </p:sp>
    </p:spTree>
    <p:extLst>
      <p:ext uri="{BB962C8B-B14F-4D97-AF65-F5344CB8AC3E}">
        <p14:creationId xmlns:p14="http://schemas.microsoft.com/office/powerpoint/2010/main" val="4226365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298C1-7AA6-C3C1-35FF-F5D154802718}"/>
              </a:ext>
            </a:extLst>
          </p:cNvPr>
          <p:cNvSpPr>
            <a:spLocks noGrp="1"/>
          </p:cNvSpPr>
          <p:nvPr>
            <p:ph type="title"/>
          </p:nvPr>
        </p:nvSpPr>
        <p:spPr/>
        <p:txBody>
          <a:bodyPr/>
          <a:lstStyle/>
          <a:p>
            <a:r>
              <a:rPr lang="en-US" dirty="0"/>
              <a:t>Stress(-test)</a:t>
            </a:r>
            <a:r>
              <a:rPr lang="en-US" dirty="0" err="1"/>
              <a:t>ing</a:t>
            </a:r>
            <a:r>
              <a:rPr lang="en-US" dirty="0"/>
              <a:t> Jenkins itself</a:t>
            </a:r>
          </a:p>
        </p:txBody>
      </p:sp>
      <p:sp>
        <p:nvSpPr>
          <p:cNvPr id="3" name="Content Placeholder 2">
            <a:extLst>
              <a:ext uri="{FF2B5EF4-FFF2-40B4-BE49-F238E27FC236}">
                <a16:creationId xmlns:a16="http://schemas.microsoft.com/office/drawing/2014/main" id="{E114E03B-84BC-03AC-8B67-DA6DE02CE9FF}"/>
              </a:ext>
            </a:extLst>
          </p:cNvPr>
          <p:cNvSpPr>
            <a:spLocks noGrp="1"/>
          </p:cNvSpPr>
          <p:nvPr>
            <p:ph idx="1"/>
          </p:nvPr>
        </p:nvSpPr>
        <p:spPr/>
        <p:txBody>
          <a:bodyPr>
            <a:normAutofit fontScale="92500" lnSpcReduction="10000"/>
          </a:bodyPr>
          <a:lstStyle/>
          <a:p>
            <a:r>
              <a:rPr lang="en-US" dirty="0"/>
              <a:t>Infra-inflicted hiccups or failed builds are a pain, so some Jenkins issues were identified, reported, addressed…:</a:t>
            </a:r>
          </a:p>
          <a:p>
            <a:pPr lvl="1"/>
            <a:r>
              <a:rPr lang="en-US" dirty="0"/>
              <a:t>Race conditions in serialization (several plugins) =&gt; </a:t>
            </a:r>
            <a:r>
              <a:rPr lang="en-US" dirty="0">
                <a:hlinkClick r:id="rId4"/>
              </a:rPr>
              <a:t>https://issues.jenkins.io/browse/JENKINS-76294</a:t>
            </a:r>
            <a:endParaRPr lang="en-US" dirty="0"/>
          </a:p>
          <a:p>
            <a:pPr lvl="1"/>
            <a:r>
              <a:rPr lang="en-US" dirty="0"/>
              <a:t>Agent loss/reconnection (especially swarm) =&gt; </a:t>
            </a:r>
            <a:r>
              <a:rPr lang="en-US" dirty="0">
                <a:hlinkClick r:id="rId5"/>
              </a:rPr>
              <a:t>https://issues.jenkins.io/browse/JENKINS-75196</a:t>
            </a:r>
            <a:r>
              <a:rPr lang="en-US" dirty="0"/>
              <a:t> </a:t>
            </a:r>
            <a:r>
              <a:rPr lang="en-US" dirty="0">
                <a:hlinkClick r:id="rId6"/>
              </a:rPr>
              <a:t>https://issues.jenkins.io/browse/JENKINS-75195</a:t>
            </a:r>
            <a:r>
              <a:rPr lang="en-US" dirty="0"/>
              <a:t> </a:t>
            </a:r>
          </a:p>
          <a:p>
            <a:pPr lvl="1"/>
            <a:r>
              <a:rPr lang="en-US" dirty="0"/>
              <a:t>Native OS interaction (thread name setting) =&gt; </a:t>
            </a:r>
            <a:r>
              <a:rPr lang="en-US" dirty="0">
                <a:hlinkClick r:id="rId7"/>
              </a:rPr>
              <a:t>https://github.com/jenkinsci/workflow-support-plugin/pull/345</a:t>
            </a:r>
            <a:endParaRPr lang="en-US" dirty="0"/>
          </a:p>
          <a:p>
            <a:pPr lvl="1"/>
            <a:r>
              <a:rPr lang="en-US" dirty="0"/>
              <a:t>Pipeline graph updates crashing Jenkins controller =&gt; </a:t>
            </a:r>
            <a:br>
              <a:rPr lang="en-US" dirty="0"/>
            </a:br>
            <a:r>
              <a:rPr lang="en-US" dirty="0">
                <a:hlinkClick r:id="rId8"/>
              </a:rPr>
              <a:t>https://github.com/jenkinsci/pipeline-graph-view-plugin/issues/862</a:t>
            </a:r>
            <a:br>
              <a:rPr lang="en-US" dirty="0"/>
            </a:br>
            <a:r>
              <a:rPr lang="en-US" dirty="0">
                <a:hlinkClick r:id="rId9"/>
              </a:rPr>
              <a:t>https://github.com/jenkinsci/pipeline-graph-view-plugin/pull/887</a:t>
            </a:r>
            <a:br>
              <a:rPr lang="en-US" dirty="0"/>
            </a:br>
            <a:r>
              <a:rPr lang="en-US" dirty="0">
                <a:hlinkClick r:id="rId10"/>
              </a:rPr>
              <a:t>https://github.com/jenkinsci/pipeline-graph-view-plugin/issues/888</a:t>
            </a:r>
            <a:endParaRPr lang="en-US" dirty="0"/>
          </a:p>
        </p:txBody>
      </p:sp>
    </p:spTree>
    <p:extLst>
      <p:ext uri="{BB962C8B-B14F-4D97-AF65-F5344CB8AC3E}">
        <p14:creationId xmlns:p14="http://schemas.microsoft.com/office/powerpoint/2010/main" val="2818104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D797DD3A-4116-E5E8-3CF6-B2A00A9D45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6604E-00DF-AC15-4AE8-B11DBB9B519B}"/>
              </a:ext>
            </a:extLst>
          </p:cNvPr>
          <p:cNvSpPr>
            <a:spLocks noGrp="1"/>
          </p:cNvSpPr>
          <p:nvPr>
            <p:ph type="title"/>
          </p:nvPr>
        </p:nvSpPr>
        <p:spPr/>
        <p:txBody>
          <a:bodyPr/>
          <a:lstStyle/>
          <a:p>
            <a:r>
              <a:rPr lang="en-US" dirty="0"/>
              <a:t>Further ecosystem cooperation</a:t>
            </a:r>
          </a:p>
        </p:txBody>
      </p:sp>
      <p:sp>
        <p:nvSpPr>
          <p:cNvPr id="3" name="Content Placeholder 2">
            <a:extLst>
              <a:ext uri="{FF2B5EF4-FFF2-40B4-BE49-F238E27FC236}">
                <a16:creationId xmlns:a16="http://schemas.microsoft.com/office/drawing/2014/main" id="{0F2386DB-CF65-4D0A-8E54-1FD4CCB34C25}"/>
              </a:ext>
            </a:extLst>
          </p:cNvPr>
          <p:cNvSpPr>
            <a:spLocks noGrp="1"/>
          </p:cNvSpPr>
          <p:nvPr>
            <p:ph idx="1"/>
          </p:nvPr>
        </p:nvSpPr>
        <p:spPr/>
        <p:txBody>
          <a:bodyPr>
            <a:normAutofit/>
          </a:bodyPr>
          <a:lstStyle/>
          <a:p>
            <a:r>
              <a:rPr lang="en-US" dirty="0"/>
              <a:t>Support for </a:t>
            </a:r>
            <a:r>
              <a:rPr lang="en-US" dirty="0">
                <a:latin typeface="Courier New" panose="02070309020205020404" pitchFamily="49" charset="0"/>
                <a:cs typeface="Courier New" panose="02070309020205020404" pitchFamily="49" charset="0"/>
              </a:rPr>
              <a:t>@Library('libname@${BRANCH_NAME}')</a:t>
            </a:r>
            <a:r>
              <a:rPr lang="en-US" dirty="0"/>
              <a:t> helps with branches like staging/stable/</a:t>
            </a:r>
            <a:r>
              <a:rPr lang="en-US" dirty="0" err="1"/>
              <a:t>fightwarn</a:t>
            </a:r>
            <a:r>
              <a:rPr lang="en-US" dirty="0"/>
              <a:t> whose code can be identical but respective JSL variants might differ</a:t>
            </a:r>
            <a:br>
              <a:rPr lang="en-US" dirty="0"/>
            </a:br>
            <a:r>
              <a:rPr lang="en-US" dirty="0"/>
              <a:t>=&gt; </a:t>
            </a:r>
            <a:r>
              <a:rPr lang="en-US" dirty="0">
                <a:hlinkClick r:id="rId4"/>
              </a:rPr>
              <a:t>https://github.com/jenkinsci/pipeline-groovy-lib-plugin/pull/19</a:t>
            </a:r>
            <a:r>
              <a:rPr lang="en-US" dirty="0"/>
              <a:t> </a:t>
            </a:r>
          </a:p>
          <a:p>
            <a:r>
              <a:rPr lang="en-US" dirty="0"/>
              <a:t>Builds of git-client with “Fanned-out Git </a:t>
            </a:r>
            <a:r>
              <a:rPr lang="en-US" dirty="0" err="1"/>
              <a:t>refrepo</a:t>
            </a:r>
            <a:r>
              <a:rPr lang="en-US" dirty="0"/>
              <a:t>” can help faster checkouts directly; some lessons learned in that PR are used in </a:t>
            </a:r>
            <a:r>
              <a:rPr lang="en-US" dirty="0" err="1"/>
              <a:t>DynamatrixStash</a:t>
            </a:r>
            <a:r>
              <a:rPr lang="en-US" dirty="0"/>
              <a:t> logic (e.g.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gitcache-dynamatrix</a:t>
            </a:r>
            <a:r>
              <a:rPr lang="en-US" dirty="0"/>
              <a:t> directories) =&gt; </a:t>
            </a:r>
            <a:r>
              <a:rPr lang="en-US" dirty="0">
                <a:hlinkClick r:id="rId5"/>
              </a:rPr>
              <a:t>https://github.com/jenkinsci/git-client-plugin/pull/644</a:t>
            </a:r>
            <a:endParaRPr lang="en-US" dirty="0"/>
          </a:p>
        </p:txBody>
      </p:sp>
    </p:spTree>
    <p:extLst>
      <p:ext uri="{BB962C8B-B14F-4D97-AF65-F5344CB8AC3E}">
        <p14:creationId xmlns:p14="http://schemas.microsoft.com/office/powerpoint/2010/main" val="1167928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8D0C9C19-0E18-2FD8-8619-187628498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B07207-54FF-90DE-C1A0-94DB17DD2DFC}"/>
              </a:ext>
            </a:extLst>
          </p:cNvPr>
          <p:cNvSpPr>
            <a:spLocks noGrp="1"/>
          </p:cNvSpPr>
          <p:nvPr>
            <p:ph type="title"/>
          </p:nvPr>
        </p:nvSpPr>
        <p:spPr/>
        <p:txBody>
          <a:bodyPr/>
          <a:lstStyle/>
          <a:p>
            <a:r>
              <a:rPr lang="en-US" dirty="0"/>
              <a:t>Further ecosystem cooperation</a:t>
            </a:r>
          </a:p>
        </p:txBody>
      </p:sp>
      <p:sp>
        <p:nvSpPr>
          <p:cNvPr id="3" name="Content Placeholder 2">
            <a:extLst>
              <a:ext uri="{FF2B5EF4-FFF2-40B4-BE49-F238E27FC236}">
                <a16:creationId xmlns:a16="http://schemas.microsoft.com/office/drawing/2014/main" id="{3F945269-E0CD-B5B6-8F97-F0E9E78F793C}"/>
              </a:ext>
            </a:extLst>
          </p:cNvPr>
          <p:cNvSpPr>
            <a:spLocks noGrp="1"/>
          </p:cNvSpPr>
          <p:nvPr>
            <p:ph idx="1"/>
          </p:nvPr>
        </p:nvSpPr>
        <p:spPr/>
        <p:txBody>
          <a:bodyPr>
            <a:normAutofit/>
          </a:bodyPr>
          <a:lstStyle/>
          <a:p>
            <a:r>
              <a:rPr lang="en-US" dirty="0"/>
              <a:t>Swarm Agents are very useful with community-provided build agents (as opposed to SSH Build Agents managed by NUT CI farm), but tend to be fragile when practical connections get lost (bad internet, laggy controller) - but somehow pinger et al do not trigger a reconnection:</a:t>
            </a:r>
          </a:p>
          <a:p>
            <a:pPr lvl="1"/>
            <a:r>
              <a:rPr lang="en-US" dirty="0">
                <a:hlinkClick r:id="rId4"/>
              </a:rPr>
              <a:t>https://issues.jenkins.io/browse/JENKINS-70501</a:t>
            </a:r>
            <a:endParaRPr lang="en-US" dirty="0"/>
          </a:p>
          <a:p>
            <a:pPr lvl="1"/>
            <a:r>
              <a:rPr lang="en-US" dirty="0">
                <a:hlinkClick r:id="rId5"/>
              </a:rPr>
              <a:t>https://issues.jenkins.io/browse/JENKINS-69446</a:t>
            </a:r>
            <a:endParaRPr lang="en-US" dirty="0"/>
          </a:p>
          <a:p>
            <a:pPr lvl="1"/>
            <a:r>
              <a:rPr lang="en-US" dirty="0">
                <a:hlinkClick r:id="rId6"/>
              </a:rPr>
              <a:t>https://issues.jenkins.io/browse/JENKINS-75195</a:t>
            </a:r>
            <a:endParaRPr lang="en-US" dirty="0"/>
          </a:p>
          <a:p>
            <a:pPr lvl="1"/>
            <a:r>
              <a:rPr lang="en-US" dirty="0">
                <a:hlinkClick r:id="rId7"/>
              </a:rPr>
              <a:t>https://issues.jenkins.io/browse/JENKINS-75196</a:t>
            </a:r>
            <a:endParaRPr lang="en-US" dirty="0"/>
          </a:p>
          <a:p>
            <a:pPr lvl="1"/>
            <a:r>
              <a:rPr lang="en-US" dirty="0"/>
              <a:t>Maybe I’ve missed some?</a:t>
            </a:r>
          </a:p>
        </p:txBody>
      </p:sp>
    </p:spTree>
    <p:extLst>
      <p:ext uri="{BB962C8B-B14F-4D97-AF65-F5344CB8AC3E}">
        <p14:creationId xmlns:p14="http://schemas.microsoft.com/office/powerpoint/2010/main" val="250874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56A1EA1C-739B-2061-3580-5C8806285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AE3692-745A-09B5-E592-BEA2F8B2BB69}"/>
              </a:ext>
            </a:extLst>
          </p:cNvPr>
          <p:cNvSpPr>
            <a:spLocks noGrp="1"/>
          </p:cNvSpPr>
          <p:nvPr>
            <p:ph type="title"/>
          </p:nvPr>
        </p:nvSpPr>
        <p:spPr/>
        <p:txBody>
          <a:bodyPr/>
          <a:lstStyle/>
          <a:p>
            <a:r>
              <a:rPr lang="en-US" dirty="0"/>
              <a:t>Further ecosystem cooperation</a:t>
            </a:r>
          </a:p>
        </p:txBody>
      </p:sp>
      <p:sp>
        <p:nvSpPr>
          <p:cNvPr id="3" name="Content Placeholder 2">
            <a:extLst>
              <a:ext uri="{FF2B5EF4-FFF2-40B4-BE49-F238E27FC236}">
                <a16:creationId xmlns:a16="http://schemas.microsoft.com/office/drawing/2014/main" id="{1AA7CBE2-9B7A-4F0A-43BA-9342F921073C}"/>
              </a:ext>
            </a:extLst>
          </p:cNvPr>
          <p:cNvSpPr>
            <a:spLocks noGrp="1"/>
          </p:cNvSpPr>
          <p:nvPr>
            <p:ph idx="1"/>
          </p:nvPr>
        </p:nvSpPr>
        <p:spPr/>
        <p:txBody>
          <a:bodyPr>
            <a:normAutofit/>
          </a:bodyPr>
          <a:lstStyle/>
          <a:p>
            <a:r>
              <a:rPr lang="en-US" dirty="0"/>
              <a:t>The </a:t>
            </a:r>
            <a:r>
              <a:rPr lang="en-US" dirty="0">
                <a:hlinkClick r:id="rId4"/>
              </a:rPr>
              <a:t>https://github.com/jenkinsci/conflict-aware-ondemand-strategy-plugin</a:t>
            </a:r>
            <a:r>
              <a:rPr lang="en-US" dirty="0"/>
              <a:t> was made to allow co-location of numerous build containers on the same puny server (so only one at a time is used actively)</a:t>
            </a:r>
          </a:p>
          <a:p>
            <a:pPr lvl="1"/>
            <a:r>
              <a:rPr lang="en-US" dirty="0"/>
              <a:t>FIXME: Currently used with SSH Build Agents; investigate if Swarm Agents can benefit from this approach?</a:t>
            </a:r>
          </a:p>
          <a:p>
            <a:pPr lvl="1"/>
            <a:r>
              <a:rPr lang="en-US" dirty="0"/>
              <a:t>Scripted Cloud or similar plugins might be, or not be, useful to (also) start/shutdown containers based on demand (conserve RAM on puny servers)</a:t>
            </a:r>
          </a:p>
          <a:p>
            <a:pPr lvl="1"/>
            <a:r>
              <a:rPr lang="en-US" dirty="0"/>
              <a:t>Thanks to @dbeck for initial conversion of my PR for jenkins-core into a plugin </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688645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97C5FF-7B73-37EF-E933-EC4F51F82CDE}"/>
              </a:ext>
            </a:extLst>
          </p:cNvPr>
          <p:cNvPicPr>
            <a:picLocks noChangeAspect="1"/>
          </p:cNvPicPr>
          <p:nvPr/>
        </p:nvPicPr>
        <p:blipFill>
          <a:blip r:embed="rId2"/>
          <a:stretch>
            <a:fillRect/>
          </a:stretch>
        </p:blipFill>
        <p:spPr>
          <a:xfrm>
            <a:off x="9050346" y="0"/>
            <a:ext cx="3141654" cy="6858000"/>
          </a:xfrm>
          <a:prstGeom prst="rect">
            <a:avLst/>
          </a:prstGeom>
        </p:spPr>
      </p:pic>
      <p:pic>
        <p:nvPicPr>
          <p:cNvPr id="8" name="Picture 7">
            <a:extLst>
              <a:ext uri="{FF2B5EF4-FFF2-40B4-BE49-F238E27FC236}">
                <a16:creationId xmlns:a16="http://schemas.microsoft.com/office/drawing/2014/main" id="{29A6916B-D11B-0DCC-4F58-AA87B951CE40}"/>
              </a:ext>
            </a:extLst>
          </p:cNvPr>
          <p:cNvPicPr>
            <a:picLocks noChangeAspect="1"/>
          </p:cNvPicPr>
          <p:nvPr/>
        </p:nvPicPr>
        <p:blipFill>
          <a:blip r:embed="rId3"/>
          <a:stretch>
            <a:fillRect/>
          </a:stretch>
        </p:blipFill>
        <p:spPr>
          <a:xfrm>
            <a:off x="2889" y="1074266"/>
            <a:ext cx="9476055" cy="5145664"/>
          </a:xfrm>
          <a:prstGeom prst="rect">
            <a:avLst/>
          </a:prstGeom>
        </p:spPr>
      </p:pic>
    </p:spTree>
    <p:extLst>
      <p:ext uri="{BB962C8B-B14F-4D97-AF65-F5344CB8AC3E}">
        <p14:creationId xmlns:p14="http://schemas.microsoft.com/office/powerpoint/2010/main" val="1179285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6B3A6-2D7A-8C64-342B-3E0B9B184EDC}"/>
              </a:ext>
            </a:extLst>
          </p:cNvPr>
          <p:cNvSpPr>
            <a:spLocks noGrp="1"/>
          </p:cNvSpPr>
          <p:nvPr>
            <p:ph type="title"/>
          </p:nvPr>
        </p:nvSpPr>
        <p:spPr/>
        <p:txBody>
          <a:bodyPr/>
          <a:lstStyle/>
          <a:p>
            <a:r>
              <a:rPr lang="en-US" dirty="0"/>
              <a:t>Further ecosystem cooperation</a:t>
            </a:r>
          </a:p>
        </p:txBody>
      </p:sp>
      <p:sp>
        <p:nvSpPr>
          <p:cNvPr id="3" name="Content Placeholder 2">
            <a:extLst>
              <a:ext uri="{FF2B5EF4-FFF2-40B4-BE49-F238E27FC236}">
                <a16:creationId xmlns:a16="http://schemas.microsoft.com/office/drawing/2014/main" id="{699158DD-212A-C600-69B9-5FE2E97D33C6}"/>
              </a:ext>
            </a:extLst>
          </p:cNvPr>
          <p:cNvSpPr>
            <a:spLocks noGrp="1"/>
          </p:cNvSpPr>
          <p:nvPr>
            <p:ph idx="1"/>
          </p:nvPr>
        </p:nvSpPr>
        <p:spPr/>
        <p:txBody>
          <a:bodyPr/>
          <a:lstStyle/>
          <a:p>
            <a:pPr marL="0" indent="0">
              <a:buNone/>
            </a:pPr>
            <a:r>
              <a:rPr lang="en-US" dirty="0"/>
              <a:t>Queue management</a:t>
            </a:r>
            <a:endParaRPr lang="en-US" dirty="0">
              <a:hlinkClick r:id="rId4"/>
            </a:endParaRPr>
          </a:p>
          <a:p>
            <a:r>
              <a:rPr lang="en-US" dirty="0">
                <a:hlinkClick r:id="rId4"/>
              </a:rPr>
              <a:t>https://github.com/jenkinsci/simple-queue-plugin/pull/17</a:t>
            </a:r>
            <a:r>
              <a:rPr lang="en-US" dirty="0"/>
              <a:t> </a:t>
            </a:r>
            <a:br>
              <a:rPr lang="en-US" dirty="0"/>
            </a:br>
            <a:r>
              <a:rPr lang="en-US" dirty="0"/>
              <a:t>and nearby PRs for that plugin</a:t>
            </a:r>
          </a:p>
          <a:p>
            <a:r>
              <a:rPr lang="en-US" dirty="0"/>
              <a:t>Need obscure views like </a:t>
            </a:r>
            <a:r>
              <a:rPr lang="en-US" dirty="0" err="1"/>
              <a:t>checkFingerprints</a:t>
            </a:r>
            <a:br>
              <a:rPr lang="en-US"/>
            </a:br>
            <a:r>
              <a:rPr lang="en-US"/>
              <a:t>nowadays to </a:t>
            </a:r>
            <a:r>
              <a:rPr lang="en-US" dirty="0"/>
              <a:t>see and manage the queue</a:t>
            </a:r>
          </a:p>
        </p:txBody>
      </p:sp>
      <p:pic>
        <p:nvPicPr>
          <p:cNvPr id="5" name="Picture 4">
            <a:extLst>
              <a:ext uri="{FF2B5EF4-FFF2-40B4-BE49-F238E27FC236}">
                <a16:creationId xmlns:a16="http://schemas.microsoft.com/office/drawing/2014/main" id="{FE99A5DB-1337-1533-3681-94A3A51DF0C4}"/>
              </a:ext>
            </a:extLst>
          </p:cNvPr>
          <p:cNvPicPr>
            <a:picLocks noChangeAspect="1"/>
          </p:cNvPicPr>
          <p:nvPr/>
        </p:nvPicPr>
        <p:blipFill>
          <a:blip r:embed="rId5"/>
          <a:stretch>
            <a:fillRect/>
          </a:stretch>
        </p:blipFill>
        <p:spPr>
          <a:xfrm>
            <a:off x="7362627" y="2924070"/>
            <a:ext cx="2815516" cy="3686210"/>
          </a:xfrm>
          <a:prstGeom prst="rect">
            <a:avLst/>
          </a:prstGeom>
        </p:spPr>
      </p:pic>
    </p:spTree>
    <p:extLst>
      <p:ext uri="{BB962C8B-B14F-4D97-AF65-F5344CB8AC3E}">
        <p14:creationId xmlns:p14="http://schemas.microsoft.com/office/powerpoint/2010/main" val="1643140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793A198F-065C-9634-F9AF-952B49B66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4F43A-212D-484B-DCF8-2EAC631072B8}"/>
              </a:ext>
            </a:extLst>
          </p:cNvPr>
          <p:cNvSpPr>
            <a:spLocks noGrp="1"/>
          </p:cNvSpPr>
          <p:nvPr>
            <p:ph type="title"/>
          </p:nvPr>
        </p:nvSpPr>
        <p:spPr/>
        <p:txBody>
          <a:bodyPr/>
          <a:lstStyle/>
          <a:p>
            <a:r>
              <a:rPr lang="en-US" dirty="0"/>
              <a:t>Lessons learned: Tunneled SSH agents</a:t>
            </a:r>
          </a:p>
        </p:txBody>
      </p:sp>
      <p:sp>
        <p:nvSpPr>
          <p:cNvPr id="3" name="Content Placeholder 2">
            <a:extLst>
              <a:ext uri="{FF2B5EF4-FFF2-40B4-BE49-F238E27FC236}">
                <a16:creationId xmlns:a16="http://schemas.microsoft.com/office/drawing/2014/main" id="{44F473D0-6432-F124-C664-B12A1F0D6F72}"/>
              </a:ext>
            </a:extLst>
          </p:cNvPr>
          <p:cNvSpPr>
            <a:spLocks noGrp="1"/>
          </p:cNvSpPr>
          <p:nvPr>
            <p:ph idx="1"/>
          </p:nvPr>
        </p:nvSpPr>
        <p:spPr/>
        <p:txBody>
          <a:bodyPr>
            <a:normAutofit/>
          </a:bodyPr>
          <a:lstStyle/>
          <a:p>
            <a:r>
              <a:rPr lang="en-US" dirty="0"/>
              <a:t>In some cases, the tested operating system is too old to have a modern JDK available in any manner. In other cases, </a:t>
            </a:r>
            <a:r>
              <a:rPr lang="en-US" dirty="0">
                <a:latin typeface="Courier New" panose="02070309020205020404" pitchFamily="49" charset="0"/>
                <a:cs typeface="Courier New" panose="02070309020205020404" pitchFamily="49" charset="0"/>
              </a:rPr>
              <a:t>qemu-static</a:t>
            </a:r>
            <a:r>
              <a:rPr lang="en-US" dirty="0"/>
              <a:t> virtualization of foreign CPU architectures is not working for a JVM.</a:t>
            </a:r>
          </a:p>
          <a:p>
            <a:r>
              <a:rPr lang="en-US" dirty="0"/>
              <a:t>It helps to run an SSH agent to a system with modern JDK (controller localhost, hypervisor with legacy/emulated Linux containers, even a neighboring VM with shared NFS) which then uses carefully crafted prefix/suffix for command lines with further SSH hop, that in effect run them in the older operating environment.</a:t>
            </a:r>
          </a:p>
        </p:txBody>
      </p:sp>
    </p:spTree>
    <p:extLst>
      <p:ext uri="{BB962C8B-B14F-4D97-AF65-F5344CB8AC3E}">
        <p14:creationId xmlns:p14="http://schemas.microsoft.com/office/powerpoint/2010/main" val="25004365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20CB44FE-2FA0-98B2-1A61-2B93EFF2DC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F30FDC-B6A1-4E6D-D876-A9F61F0942A9}"/>
              </a:ext>
            </a:extLst>
          </p:cNvPr>
          <p:cNvSpPr>
            <a:spLocks noGrp="1"/>
          </p:cNvSpPr>
          <p:nvPr>
            <p:ph type="title"/>
          </p:nvPr>
        </p:nvSpPr>
        <p:spPr/>
        <p:txBody>
          <a:bodyPr/>
          <a:lstStyle/>
          <a:p>
            <a:r>
              <a:rPr lang="en-US" dirty="0"/>
              <a:t>Lessons learned: Tunneled SSH agents</a:t>
            </a:r>
          </a:p>
        </p:txBody>
      </p:sp>
      <p:sp>
        <p:nvSpPr>
          <p:cNvPr id="3" name="Content Placeholder 2">
            <a:extLst>
              <a:ext uri="{FF2B5EF4-FFF2-40B4-BE49-F238E27FC236}">
                <a16:creationId xmlns:a16="http://schemas.microsoft.com/office/drawing/2014/main" id="{FA70FA3E-16A1-8350-AB83-544D22E9CF16}"/>
              </a:ext>
            </a:extLst>
          </p:cNvPr>
          <p:cNvSpPr>
            <a:spLocks noGrp="1"/>
          </p:cNvSpPr>
          <p:nvPr>
            <p:ph idx="1"/>
          </p:nvPr>
        </p:nvSpPr>
        <p:spPr/>
        <p:txBody>
          <a:bodyPr>
            <a:normAutofit/>
          </a:bodyPr>
          <a:lstStyle/>
          <a:p>
            <a:r>
              <a:rPr lang="en-US" dirty="0"/>
              <a:t>As far as Jenkins Remoting is concerned, it works with a local file system. So same path names to same files must exist on both the “proxy” and actual builder.</a:t>
            </a:r>
          </a:p>
          <a:p>
            <a:r>
              <a:rPr lang="en-US" dirty="0"/>
              <a:t>SSH server on worker must allow passing </a:t>
            </a:r>
            <a:r>
              <a:rPr lang="en-US" dirty="0" err="1"/>
              <a:t>envvars</a:t>
            </a:r>
            <a:r>
              <a:rPr lang="en-US" dirty="0"/>
              <a:t> (</a:t>
            </a:r>
            <a:r>
              <a:rPr lang="en-US" dirty="0" err="1">
                <a:latin typeface="Courier New" panose="02070309020205020404" pitchFamily="49" charset="0"/>
                <a:cs typeface="Courier New" panose="02070309020205020404" pitchFamily="49" charset="0"/>
              </a:rPr>
              <a:t>AcceptEnv</a:t>
            </a:r>
            <a:r>
              <a:rPr lang="en-US" dirty="0">
                <a:latin typeface="Courier New" panose="02070309020205020404" pitchFamily="49" charset="0"/>
                <a:cs typeface="Courier New" panose="02070309020205020404" pitchFamily="49" charset="0"/>
              </a:rPr>
              <a:t> *</a:t>
            </a:r>
            <a:r>
              <a:rPr lang="en-US" dirty="0"/>
              <a:t>)</a:t>
            </a:r>
          </a:p>
          <a:p>
            <a:r>
              <a:rPr lang="en-US" dirty="0"/>
              <a:t>One of the ways to set this up is documented at </a:t>
            </a:r>
            <a:r>
              <a:rPr lang="en-US" dirty="0">
                <a:hlinkClick r:id="rId4"/>
              </a:rPr>
              <a:t>https://networkupstools.org/docs/user-manual.chunked/_connecting_jenkins_to_the_containers.html#_where_to_run_agent_jar</a:t>
            </a:r>
            <a:r>
              <a:rPr lang="en-US" dirty="0"/>
              <a:t> =&gt; “Using Jenkins SSH Build Agents” section</a:t>
            </a:r>
          </a:p>
        </p:txBody>
      </p:sp>
    </p:spTree>
    <p:extLst>
      <p:ext uri="{BB962C8B-B14F-4D97-AF65-F5344CB8AC3E}">
        <p14:creationId xmlns:p14="http://schemas.microsoft.com/office/powerpoint/2010/main" val="1875036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83D50973-6C38-25ED-8AAD-922DB33B2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5F794-F91E-C883-3D08-1676469DB8D2}"/>
              </a:ext>
            </a:extLst>
          </p:cNvPr>
          <p:cNvSpPr>
            <a:spLocks noGrp="1"/>
          </p:cNvSpPr>
          <p:nvPr>
            <p:ph type="title"/>
          </p:nvPr>
        </p:nvSpPr>
        <p:spPr/>
        <p:txBody>
          <a:bodyPr/>
          <a:lstStyle/>
          <a:p>
            <a:r>
              <a:rPr lang="en-US" dirty="0"/>
              <a:t>Lessons learned: Tunneled SSH agents</a:t>
            </a:r>
          </a:p>
        </p:txBody>
      </p:sp>
      <p:sp>
        <p:nvSpPr>
          <p:cNvPr id="3" name="Content Placeholder 2">
            <a:extLst>
              <a:ext uri="{FF2B5EF4-FFF2-40B4-BE49-F238E27FC236}">
                <a16:creationId xmlns:a16="http://schemas.microsoft.com/office/drawing/2014/main" id="{D9E86807-1D22-7B04-0037-1A54559F1372}"/>
              </a:ext>
            </a:extLst>
          </p:cNvPr>
          <p:cNvSpPr>
            <a:spLocks noGrp="1"/>
          </p:cNvSpPr>
          <p:nvPr>
            <p:ph idx="1"/>
          </p:nvPr>
        </p:nvSpPr>
        <p:spPr/>
        <p:txBody>
          <a:bodyPr>
            <a:normAutofit/>
          </a:bodyPr>
          <a:lstStyle/>
          <a:p>
            <a:r>
              <a:rPr lang="en-US" dirty="0"/>
              <a:t>Example of OpenBSD 6.5 and Solaris 8 with NFS to younger neighbors:</a:t>
            </a:r>
          </a:p>
          <a:p>
            <a:pPr lvl="1"/>
            <a:r>
              <a:rPr lang="en-US" noProof="0" dirty="0"/>
              <a:t>Remote root dire</a:t>
            </a:r>
            <a:r>
              <a:rPr lang="en-US" dirty="0"/>
              <a:t>c</a:t>
            </a:r>
            <a:r>
              <a:rPr lang="cs-CZ" dirty="0"/>
              <a:t>tory</a:t>
            </a:r>
            <a:r>
              <a:rPr lang="en-US" dirty="0"/>
              <a:t> (as seen on both actual worker and intermediate host): </a:t>
            </a:r>
            <a:r>
              <a:rPr lang="en-US" dirty="0">
                <a:latin typeface="Courier New" panose="02070309020205020404" pitchFamily="49" charset="0"/>
                <a:cs typeface="Courier New" panose="02070309020205020404" pitchFamily="49" charset="0"/>
              </a:rPr>
              <a:t>/export/home/</a:t>
            </a:r>
            <a:r>
              <a:rPr lang="en-US" dirty="0" err="1">
                <a:latin typeface="Courier New" panose="02070309020205020404" pitchFamily="49" charset="0"/>
                <a:cs typeface="Courier New" panose="02070309020205020404" pitchFamily="49" charset="0"/>
              </a:rPr>
              <a:t>abuild</a:t>
            </a:r>
            <a:r>
              <a:rPr lang="en-US" dirty="0">
                <a:latin typeface="Courier New" panose="02070309020205020404" pitchFamily="49" charset="0"/>
                <a:cs typeface="Courier New" panose="02070309020205020404" pitchFamily="49" charset="0"/>
              </a:rPr>
              <a:t>/jenkins-nutci-openbsd-65-amd64</a:t>
            </a:r>
            <a:endParaRPr lang="cs-CZ" dirty="0">
              <a:latin typeface="Courier New" panose="02070309020205020404" pitchFamily="49" charset="0"/>
              <a:cs typeface="Courier New" panose="02070309020205020404" pitchFamily="49" charset="0"/>
            </a:endParaRPr>
          </a:p>
          <a:p>
            <a:pPr lvl="1"/>
            <a:r>
              <a:rPr lang="en-US" noProof="0" dirty="0"/>
              <a:t>Prefix Start Agent Command</a:t>
            </a:r>
            <a:r>
              <a:rPr lang="cs-CZ" dirty="0"/>
              <a:t>: </a:t>
            </a:r>
            <a:r>
              <a:rPr lang="en-US" dirty="0">
                <a:latin typeface="Courier New" panose="02070309020205020404" pitchFamily="49" charset="0"/>
                <a:cs typeface="Courier New" panose="02070309020205020404" pitchFamily="49" charset="0"/>
              </a:rPr>
              <a:t>echo PING &gt; /dev/tcp/nutci-openbsd-65-amd64/22 &amp;&amp; test -w /var/shm/jenkins-nutci-openbsd-65-amd64/ &amp;&amp; </a:t>
            </a:r>
          </a:p>
          <a:p>
            <a:pPr lvl="1"/>
            <a:r>
              <a:rPr lang="en-US" dirty="0">
                <a:latin typeface="Courier New" panose="02070309020205020404" pitchFamily="49" charset="0"/>
                <a:cs typeface="Courier New" panose="02070309020205020404" pitchFamily="49" charset="0"/>
              </a:rPr>
              <a:t>CI_WRAP_SH=ssh -o </a:t>
            </a:r>
            <a:r>
              <a:rPr lang="en-US" dirty="0" err="1">
                <a:latin typeface="Courier New" panose="02070309020205020404" pitchFamily="49" charset="0"/>
                <a:cs typeface="Courier New" panose="02070309020205020404" pitchFamily="49" charset="0"/>
              </a:rPr>
              <a:t>SendEnv</a:t>
            </a:r>
            <a:r>
              <a:rPr lang="en-US" dirty="0">
                <a:latin typeface="Courier New" panose="02070309020205020404" pitchFamily="49" charset="0"/>
                <a:cs typeface="Courier New" panose="02070309020205020404" pitchFamily="49" charset="0"/>
              </a:rPr>
              <a:t>='*' "nutci-openbsd-65-amd64" /bin/sh -</a:t>
            </a:r>
            <a:r>
              <a:rPr lang="en-US" dirty="0" err="1">
                <a:latin typeface="Courier New" panose="02070309020205020404" pitchFamily="49" charset="0"/>
                <a:cs typeface="Courier New" panose="02070309020205020404" pitchFamily="49" charset="0"/>
              </a:rPr>
              <a:t>xe</a:t>
            </a:r>
            <a:r>
              <a:rPr lang="en-US" dirty="0">
                <a:latin typeface="Courier New" panose="02070309020205020404" pitchFamily="49" charset="0"/>
                <a:cs typeface="Courier New" panose="02070309020205020404" pitchFamily="49" charset="0"/>
              </a:rPr>
              <a:t> </a:t>
            </a:r>
          </a:p>
          <a:p>
            <a:r>
              <a:rPr lang="en-US" dirty="0"/>
              <a:t>Similar for Linux containers with host filesystem visibility</a:t>
            </a:r>
          </a:p>
        </p:txBody>
      </p:sp>
    </p:spTree>
    <p:extLst>
      <p:ext uri="{BB962C8B-B14F-4D97-AF65-F5344CB8AC3E}">
        <p14:creationId xmlns:p14="http://schemas.microsoft.com/office/powerpoint/2010/main" val="2149219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56BF5647-9C24-D6B1-5658-11963C401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5AC0EF-2053-5217-E673-6BC9BA295AFD}"/>
              </a:ext>
            </a:extLst>
          </p:cNvPr>
          <p:cNvSpPr>
            <a:spLocks noGrp="1"/>
          </p:cNvSpPr>
          <p:nvPr>
            <p:ph type="title"/>
          </p:nvPr>
        </p:nvSpPr>
        <p:spPr/>
        <p:txBody>
          <a:bodyPr/>
          <a:lstStyle/>
          <a:p>
            <a:r>
              <a:rPr lang="en-US" dirty="0"/>
              <a:t>Lessons learned: TMPFS builds</a:t>
            </a:r>
          </a:p>
        </p:txBody>
      </p:sp>
      <p:sp>
        <p:nvSpPr>
          <p:cNvPr id="3" name="Content Placeholder 2">
            <a:extLst>
              <a:ext uri="{FF2B5EF4-FFF2-40B4-BE49-F238E27FC236}">
                <a16:creationId xmlns:a16="http://schemas.microsoft.com/office/drawing/2014/main" id="{440645D5-4ED1-981D-EADF-0F8C237D9071}"/>
              </a:ext>
            </a:extLst>
          </p:cNvPr>
          <p:cNvSpPr>
            <a:spLocks noGrp="1"/>
          </p:cNvSpPr>
          <p:nvPr>
            <p:ph idx="1"/>
          </p:nvPr>
        </p:nvSpPr>
        <p:spPr/>
        <p:txBody>
          <a:bodyPr>
            <a:normAutofit/>
          </a:bodyPr>
          <a:lstStyle/>
          <a:p>
            <a:r>
              <a:rPr lang="en-US" dirty="0"/>
              <a:t>Many cases automated by jenkins-swarm-</a:t>
            </a:r>
            <a:r>
              <a:rPr lang="en-US" dirty="0" err="1"/>
              <a:t>nutci</a:t>
            </a:r>
            <a:endParaRPr lang="en-US" dirty="0"/>
          </a:p>
          <a:p>
            <a:r>
              <a:rPr lang="en-US" dirty="0"/>
              <a:t>Some set up manually with SSH Build agents</a:t>
            </a:r>
          </a:p>
          <a:p>
            <a:pPr lvl="1"/>
            <a:r>
              <a:rPr lang="en-US" noProof="0" dirty="0"/>
              <a:t>Remote root dire</a:t>
            </a:r>
            <a:r>
              <a:rPr lang="en-US" dirty="0"/>
              <a:t>c</a:t>
            </a:r>
            <a:r>
              <a:rPr lang="cs-CZ" dirty="0"/>
              <a:t>tory</a:t>
            </a:r>
            <a:r>
              <a:rPr lang="en-US" dirty="0"/>
              <a:t>: </a:t>
            </a:r>
            <a:r>
              <a:rPr lang="en-US" dirty="0">
                <a:latin typeface="Courier New" panose="02070309020205020404" pitchFamily="49" charset="0"/>
                <a:cs typeface="Courier New" panose="02070309020205020404" pitchFamily="49" charset="0"/>
              </a:rPr>
              <a:t>/tmp/jenkins-nut-32bit</a:t>
            </a:r>
            <a:endParaRPr lang="cs-CZ" dirty="0">
              <a:latin typeface="Courier New" panose="02070309020205020404" pitchFamily="49" charset="0"/>
              <a:cs typeface="Courier New" panose="02070309020205020404" pitchFamily="49" charset="0"/>
            </a:endParaRPr>
          </a:p>
          <a:p>
            <a:pPr lvl="1"/>
            <a:r>
              <a:rPr lang="en-US" noProof="0" dirty="0"/>
              <a:t>Prefix Start Agent Command</a:t>
            </a:r>
            <a:r>
              <a:rPr lang="cs-CZ" dirty="0"/>
              <a:t>: </a:t>
            </a:r>
            <a:r>
              <a:rPr lang="en-US" dirty="0">
                <a:latin typeface="Courier New" panose="02070309020205020404" pitchFamily="49" charset="0"/>
                <a:cs typeface="Courier New" panose="02070309020205020404" pitchFamily="49" charset="0"/>
              </a:rPr>
              <a:t>rm -rf /tmp/jenkins-nut-32bit/workspace ; </a:t>
            </a:r>
            <a:r>
              <a:rPr lang="en-US" dirty="0" err="1">
                <a:latin typeface="Courier New" panose="02070309020205020404" pitchFamily="49" charset="0"/>
                <a:cs typeface="Courier New" panose="02070309020205020404" pitchFamily="49" charset="0"/>
              </a:rPr>
              <a:t>mkdir</a:t>
            </a:r>
            <a:r>
              <a:rPr lang="en-US" dirty="0">
                <a:latin typeface="Courier New" panose="02070309020205020404" pitchFamily="49" charset="0"/>
                <a:cs typeface="Courier New" panose="02070309020205020404" pitchFamily="49" charset="0"/>
              </a:rPr>
              <a:t> -p /tmp/jenkins-nut-32bit/workspace &amp;&amp; /usr/gnu/bin/ln -</a:t>
            </a:r>
            <a:r>
              <a:rPr lang="en-US" dirty="0" err="1">
                <a:latin typeface="Courier New" panose="02070309020205020404" pitchFamily="49" charset="0"/>
                <a:cs typeface="Courier New" panose="02070309020205020404" pitchFamily="49" charset="0"/>
              </a:rPr>
              <a:t>frs</a:t>
            </a:r>
            <a:r>
              <a:rPr lang="en-US" dirty="0">
                <a:latin typeface="Courier New" panose="02070309020205020404" pitchFamily="49" charset="0"/>
                <a:cs typeface="Courier New" panose="02070309020205020404" pitchFamily="49" charset="0"/>
              </a:rPr>
              <a:t> /export/home/</a:t>
            </a:r>
            <a:r>
              <a:rPr lang="en-US" dirty="0" err="1">
                <a:latin typeface="Courier New" panose="02070309020205020404" pitchFamily="49" charset="0"/>
                <a:cs typeface="Courier New" panose="02070309020205020404" pitchFamily="49" charset="0"/>
              </a:rPr>
              <a:t>abuild</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gitcache-dynamatrix</a:t>
            </a:r>
            <a:r>
              <a:rPr lang="en-US" dirty="0">
                <a:latin typeface="Courier New" panose="02070309020205020404" pitchFamily="49" charset="0"/>
                <a:cs typeface="Courier New" panose="02070309020205020404" pitchFamily="49" charset="0"/>
              </a:rPr>
              <a:t>{,@tmp} /tmp/jenkins-nut-32bit/workspace/ &amp;&amp; </a:t>
            </a:r>
            <a:endParaRPr lang="en-US" dirty="0"/>
          </a:p>
          <a:p>
            <a:endParaRPr lang="en-US" dirty="0"/>
          </a:p>
        </p:txBody>
      </p:sp>
    </p:spTree>
    <p:extLst>
      <p:ext uri="{BB962C8B-B14F-4D97-AF65-F5344CB8AC3E}">
        <p14:creationId xmlns:p14="http://schemas.microsoft.com/office/powerpoint/2010/main" val="2217962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4D566-7C06-F8C6-9075-1B3049414A00}"/>
              </a:ext>
            </a:extLst>
          </p:cNvPr>
          <p:cNvSpPr>
            <a:spLocks noGrp="1"/>
          </p:cNvSpPr>
          <p:nvPr>
            <p:ph type="title"/>
          </p:nvPr>
        </p:nvSpPr>
        <p:spPr/>
        <p:txBody>
          <a:bodyPr/>
          <a:lstStyle/>
          <a:p>
            <a:r>
              <a:rPr lang="en-US" dirty="0"/>
              <a:t>Some links</a:t>
            </a:r>
          </a:p>
        </p:txBody>
      </p:sp>
      <p:sp>
        <p:nvSpPr>
          <p:cNvPr id="3" name="Content Placeholder 2">
            <a:extLst>
              <a:ext uri="{FF2B5EF4-FFF2-40B4-BE49-F238E27FC236}">
                <a16:creationId xmlns:a16="http://schemas.microsoft.com/office/drawing/2014/main" id="{ABFF6AE7-6F6C-4F05-56D3-2EE800A273D1}"/>
              </a:ext>
            </a:extLst>
          </p:cNvPr>
          <p:cNvSpPr>
            <a:spLocks noGrp="1"/>
          </p:cNvSpPr>
          <p:nvPr>
            <p:ph idx="1"/>
          </p:nvPr>
        </p:nvSpPr>
        <p:spPr/>
        <p:txBody>
          <a:bodyPr>
            <a:normAutofit/>
          </a:bodyPr>
          <a:lstStyle/>
          <a:p>
            <a:r>
              <a:rPr lang="en-US" dirty="0">
                <a:hlinkClick r:id="rId4"/>
              </a:rPr>
              <a:t>https://stories.jenkins.io/user-story/jenkins-is-the-way-for-networkupstools/</a:t>
            </a:r>
            <a:r>
              <a:rPr lang="en-US" dirty="0"/>
              <a:t> - “</a:t>
            </a:r>
            <a:r>
              <a:rPr lang="en-US" b="1" dirty="0"/>
              <a:t>Jenkins is the way to build multi-platform NUT, and </a:t>
            </a:r>
            <a:r>
              <a:rPr lang="en-US" b="1" dirty="0" err="1"/>
              <a:t>jenkinsfile-dynamatrix</a:t>
            </a:r>
            <a:r>
              <a:rPr lang="en-US" b="1" dirty="0"/>
              <a:t> is the way to find what can be built today</a:t>
            </a:r>
            <a:r>
              <a:rPr lang="en-US" dirty="0"/>
              <a:t>”</a:t>
            </a:r>
          </a:p>
          <a:p>
            <a:r>
              <a:rPr lang="en-US" dirty="0">
                <a:hlinkClick r:id="rId5"/>
              </a:rPr>
              <a:t>https://github.com/networkupstools/jenkins-dynamatrix</a:t>
            </a:r>
            <a:r>
              <a:rPr lang="en-US" dirty="0"/>
              <a:t> - project repository for the Jenkins Shared Library</a:t>
            </a:r>
          </a:p>
          <a:p>
            <a:r>
              <a:rPr lang="en-US" dirty="0">
                <a:hlinkClick r:id="rId6"/>
              </a:rPr>
              <a:t>https://github.com/networkupstools/jenkins-swarm-nutci</a:t>
            </a:r>
            <a:r>
              <a:rPr lang="en-US" dirty="0"/>
              <a:t> - scripting for Jenkins Swarm agents (as a service under systemd, SMF, </a:t>
            </a:r>
            <a:r>
              <a:rPr lang="en-US" dirty="0" err="1"/>
              <a:t>launchd</a:t>
            </a:r>
            <a:r>
              <a:rPr lang="en-US" dirty="0"/>
              <a:t>, upstart, </a:t>
            </a:r>
            <a:r>
              <a:rPr lang="en-US" dirty="0" err="1"/>
              <a:t>rc.d</a:t>
            </a:r>
            <a:r>
              <a:rPr lang="en-US" dirty="0"/>
              <a:t>, init…) to dial into the project’s controller and offer themselves by labels as builders for the platform and toolkits there</a:t>
            </a:r>
          </a:p>
        </p:txBody>
      </p:sp>
    </p:spTree>
    <p:extLst>
      <p:ext uri="{BB962C8B-B14F-4D97-AF65-F5344CB8AC3E}">
        <p14:creationId xmlns:p14="http://schemas.microsoft.com/office/powerpoint/2010/main" val="3171291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BF27A09D-95B3-3862-C9C7-75B7BA749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1954A-209B-8495-A8FB-06435DD9583C}"/>
              </a:ext>
            </a:extLst>
          </p:cNvPr>
          <p:cNvSpPr>
            <a:spLocks noGrp="1"/>
          </p:cNvSpPr>
          <p:nvPr>
            <p:ph type="title"/>
          </p:nvPr>
        </p:nvSpPr>
        <p:spPr/>
        <p:txBody>
          <a:bodyPr/>
          <a:lstStyle/>
          <a:p>
            <a:r>
              <a:rPr lang="en-US" dirty="0"/>
              <a:t>Some links</a:t>
            </a:r>
          </a:p>
        </p:txBody>
      </p:sp>
      <p:sp>
        <p:nvSpPr>
          <p:cNvPr id="3" name="Content Placeholder 2">
            <a:extLst>
              <a:ext uri="{FF2B5EF4-FFF2-40B4-BE49-F238E27FC236}">
                <a16:creationId xmlns:a16="http://schemas.microsoft.com/office/drawing/2014/main" id="{96D2E188-C5F5-8D44-417C-32F997971DFC}"/>
              </a:ext>
            </a:extLst>
          </p:cNvPr>
          <p:cNvSpPr>
            <a:spLocks noGrp="1"/>
          </p:cNvSpPr>
          <p:nvPr>
            <p:ph idx="1"/>
          </p:nvPr>
        </p:nvSpPr>
        <p:spPr/>
        <p:txBody>
          <a:bodyPr>
            <a:normAutofit/>
          </a:bodyPr>
          <a:lstStyle/>
          <a:p>
            <a:r>
              <a:rPr lang="en-US" dirty="0">
                <a:hlinkClick r:id="rId4"/>
              </a:rPr>
              <a:t>https://github.com/networkupstools/nut/blob/master/Jenkinsfile-dynamatrix</a:t>
            </a:r>
            <a:r>
              <a:rPr lang="en-US" dirty="0"/>
              <a:t> - practical example of the pipeline preparing it for a large project (NUT)</a:t>
            </a:r>
          </a:p>
          <a:p>
            <a:r>
              <a:rPr lang="en-US" dirty="0">
                <a:hlinkClick r:id="rId5"/>
              </a:rPr>
              <a:t>https://github.com/networkupstools/nut/blob/master/ci_build.sh</a:t>
            </a:r>
            <a:r>
              <a:rPr lang="en-US" dirty="0"/>
              <a:t> - practical adaptation of feature-driven CI runs under numerous engines and developer workstations alike for the </a:t>
            </a:r>
            <a:r>
              <a:rPr lang="en-US" dirty="0" err="1"/>
              <a:t>autotools</a:t>
            </a:r>
            <a:r>
              <a:rPr lang="en-US" dirty="0"/>
              <a:t> based C/C++ project (NUT)</a:t>
            </a:r>
          </a:p>
          <a:p>
            <a:r>
              <a:rPr lang="en-US" dirty="0">
                <a:hlinkClick r:id="rId6"/>
              </a:rPr>
              <a:t>https://github.com/networkupstools/libmodbus/blob/rtu_usb_jf/Jenkinsfile-dynamatrix</a:t>
            </a:r>
            <a:r>
              <a:rPr lang="en-US" dirty="0"/>
              <a:t> - a much smaller example pipeline for one </a:t>
            </a:r>
            <a:r>
              <a:rPr lang="en-US" dirty="0" err="1"/>
              <a:t>autotools</a:t>
            </a:r>
            <a:r>
              <a:rPr lang="en-US" dirty="0"/>
              <a:t> setup of a simpler project</a:t>
            </a:r>
          </a:p>
        </p:txBody>
      </p:sp>
    </p:spTree>
    <p:extLst>
      <p:ext uri="{BB962C8B-B14F-4D97-AF65-F5344CB8AC3E}">
        <p14:creationId xmlns:p14="http://schemas.microsoft.com/office/powerpoint/2010/main" val="2685721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866</TotalTime>
  <Words>1863</Words>
  <Application>Microsoft Office PowerPoint</Application>
  <PresentationFormat>Widescreen</PresentationFormat>
  <Paragraphs>102</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Courier New</vt:lpstr>
      <vt:lpstr>Wingdings</vt:lpstr>
      <vt:lpstr>Office Theme</vt:lpstr>
      <vt:lpstr>NUT CI farm ❤️ Jenkins</vt:lpstr>
      <vt:lpstr>Jenkins-dynamatrix overview</vt:lpstr>
      <vt:lpstr>Why</vt:lpstr>
      <vt:lpstr>Why</vt:lpstr>
      <vt:lpstr>More Why</vt:lpstr>
      <vt:lpstr>Some How</vt:lpstr>
      <vt:lpstr>Some How</vt:lpstr>
      <vt:lpstr>Some How</vt:lpstr>
      <vt:lpstr>Some How</vt:lpstr>
      <vt:lpstr>PowerPoint Presentation</vt:lpstr>
      <vt:lpstr>PowerPoint Presentation</vt:lpstr>
      <vt:lpstr>PowerPoint Presentation</vt:lpstr>
      <vt:lpstr>PowerPoint Presentation</vt:lpstr>
      <vt:lpstr>Stress(-test)ing Jenkins itself</vt:lpstr>
      <vt:lpstr>Stress(-test)ing Jenkins itself</vt:lpstr>
      <vt:lpstr>Further ecosystem cooperation</vt:lpstr>
      <vt:lpstr>Further ecosystem cooperation</vt:lpstr>
      <vt:lpstr>Further ecosystem cooperation</vt:lpstr>
      <vt:lpstr>PowerPoint Presentation</vt:lpstr>
      <vt:lpstr>Further ecosystem cooperation</vt:lpstr>
      <vt:lpstr>Lessons learned: Tunneled SSH agents</vt:lpstr>
      <vt:lpstr>Lessons learned: Tunneled SSH agents</vt:lpstr>
      <vt:lpstr>Lessons learned: Tunneled SSH agents</vt:lpstr>
      <vt:lpstr>Lessons learned: TMPFS builds</vt:lpstr>
      <vt:lpstr>Some links</vt:lpstr>
      <vt:lpstr>Some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Evgeny Klimov</dc:creator>
  <cp:lastModifiedBy>Evgeny Klimov</cp:lastModifiedBy>
  <cp:revision>58</cp:revision>
  <dcterms:created xsi:type="dcterms:W3CDTF">2025-01-30T09:47:44Z</dcterms:created>
  <dcterms:modified xsi:type="dcterms:W3CDTF">2026-01-30T11:10:54Z</dcterms:modified>
</cp:coreProperties>
</file>